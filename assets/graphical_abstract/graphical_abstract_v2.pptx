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4"/>
  </p:sldMasterIdLst>
  <p:notesMasterIdLst>
    <p:notesMasterId r:id="rId6"/>
  </p:notesMasterIdLst>
  <p:sldIdLst>
    <p:sldId id="321" r:id="rId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5760" userDrawn="1">
          <p15:clr>
            <a:srgbClr val="A4A3A4"/>
          </p15:clr>
        </p15:guide>
        <p15:guide id="2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8DF"/>
    <a:srgbClr val="CACBCC"/>
    <a:srgbClr val="DCDC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FEA419B-BCDB-4C27-8AB2-1E94C2BD932B}">
  <a:tblStyle styleId="{BFEA419B-BCDB-4C27-8AB2-1E94C2BD932B}" styleName="Elsevier">
    <a:wholeTbl>
      <a:tcTxStyle>
        <a:fontRef idx="minor">
          <a:prstClr val="black"/>
        </a:fontRef>
        <a:schemeClr val="dk1"/>
      </a:tcTxStyle>
      <a:tcStyle>
        <a:tcBdr>
          <a:left>
            <a:ln w="0" cmpd="sng">
              <a:solidFill>
                <a:schemeClr val="lt1"/>
              </a:solidFill>
            </a:ln>
          </a:left>
          <a:right>
            <a:ln w="0" cmpd="sng">
              <a:solidFill>
                <a:schemeClr val="lt1"/>
              </a:solidFill>
            </a:ln>
          </a:right>
          <a:top>
            <a:ln w="0" cmpd="sng">
              <a:solidFill>
                <a:schemeClr val="lt1"/>
              </a:solidFill>
            </a:ln>
          </a:top>
          <a:bottom>
            <a:ln w="12700" cmpd="sng">
              <a:solidFill>
                <a:srgbClr val="DCDCDD"/>
              </a:solidFill>
            </a:ln>
          </a:bottom>
          <a:insideH>
            <a:ln w="12700" cmpd="sng">
              <a:solidFill>
                <a:srgbClr val="DCDCDD"/>
              </a:solidFill>
            </a:ln>
          </a:insideH>
          <a:insideV>
            <a:ln w="0" cmpd="sng">
              <a:solidFill>
                <a:schemeClr val="dk1"/>
              </a:solidFill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lt1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27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dk1"/>
      </a:tcTxStyle>
      <a:tcStyle>
        <a:tcBdr>
          <a:bottom>
            <a:ln w="12700" cmpd="sng">
              <a:solidFill>
                <a:srgbClr val="FF6C00"/>
              </a:solidFill>
            </a:ln>
          </a:bottom>
        </a:tcBdr>
        <a:fill>
          <a:solidFill>
            <a:schemeClr val="l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2" autoAdjust="0"/>
    <p:restoredTop sz="95842"/>
  </p:normalViewPr>
  <p:slideViewPr>
    <p:cSldViewPr snapToGrid="0" showGuides="1">
      <p:cViewPr>
        <p:scale>
          <a:sx n="197" d="100"/>
          <a:sy n="197" d="100"/>
        </p:scale>
        <p:origin x="576" y="336"/>
      </p:cViewPr>
      <p:guideLst>
        <p:guide pos="576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2480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9DD4CF-C917-4D69-9374-6EFF2E9F78C3}" type="datetimeFigureOut">
              <a:rPr lang="de-DE" smtClean="0"/>
              <a:t>09.05.26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443C7B-F938-4CE9-A268-32817172635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8740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sual abstract tem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76263" y="116670"/>
            <a:ext cx="7991475" cy="720000"/>
          </a:xfrm>
          <a:prstGeom prst="rect">
            <a:avLst/>
          </a:prstGeom>
          <a:ln w="25400">
            <a:solidFill>
              <a:srgbClr val="FF6C00"/>
            </a:solidFill>
          </a:ln>
        </p:spPr>
        <p:txBody>
          <a:bodyPr tIns="90000" bIns="90000" anchor="ctr" anchorCtr="0">
            <a:normAutofit/>
          </a:bodyPr>
          <a:lstStyle>
            <a:lvl1pPr marL="0" indent="0" algn="ctr">
              <a:lnSpc>
                <a:spcPct val="100000"/>
              </a:lnSpc>
              <a:buNone/>
              <a:defRPr sz="4000">
                <a:solidFill>
                  <a:schemeClr val="tx1"/>
                </a:solidFill>
              </a:defRPr>
            </a:lvl1pPr>
            <a:lvl2pPr marL="3429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2pPr>
            <a:lvl3pPr marL="6858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3pPr>
            <a:lvl4pPr marL="10287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4pPr>
            <a:lvl5pPr marL="1371600" indent="0">
              <a:lnSpc>
                <a:spcPts val="3600"/>
              </a:lnSpc>
              <a:buNone/>
              <a:defRPr sz="3000">
                <a:solidFill>
                  <a:srgbClr val="FF6C00"/>
                </a:solidFill>
              </a:defRPr>
            </a:lvl5pPr>
          </a:lstStyle>
          <a:p>
            <a:pPr lvl="0"/>
            <a:r>
              <a:rPr lang="en-US" dirty="0"/>
              <a:t>Your title goes here</a:t>
            </a:r>
            <a:endParaRPr lang="de-DE" dirty="0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76263" y="905719"/>
            <a:ext cx="7991475" cy="425450"/>
          </a:xfrm>
          <a:ln w="25400">
            <a:noFill/>
          </a:ln>
        </p:spPr>
        <p:txBody>
          <a:bodyPr tIns="90000" bIns="90000" anchor="ctr" anchorCtr="0">
            <a:noAutofit/>
          </a:bodyPr>
          <a:lstStyle>
            <a:lvl1pPr algn="ctr"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The take-home message goes here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7B623-3139-436F-96BB-B47DF6B7AEF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76263" y="1388312"/>
            <a:ext cx="2520000" cy="3024938"/>
          </a:xfrm>
          <a:ln w="25400">
            <a:solidFill>
              <a:srgbClr val="FF6C00"/>
            </a:solidFill>
          </a:ln>
        </p:spPr>
        <p:txBody>
          <a:bodyPr tIns="90000" anchor="ctr" anchorCtr="0"/>
          <a:lstStyle>
            <a:lvl1pPr marL="0" indent="0" algn="ctr">
              <a:buNone/>
              <a:defRPr b="1">
                <a:solidFill>
                  <a:srgbClr val="53565A"/>
                </a:solidFill>
              </a:defRPr>
            </a:lvl1pPr>
            <a:lvl2pPr>
              <a:defRPr>
                <a:solidFill>
                  <a:srgbClr val="53565A"/>
                </a:solidFill>
              </a:defRPr>
            </a:lvl2pPr>
            <a:lvl3pPr>
              <a:defRPr>
                <a:solidFill>
                  <a:srgbClr val="53565A"/>
                </a:solidFill>
              </a:defRPr>
            </a:lvl3pPr>
            <a:lvl4pPr>
              <a:defRPr>
                <a:solidFill>
                  <a:srgbClr val="53565A"/>
                </a:solidFill>
              </a:defRPr>
            </a:lvl4pPr>
            <a:lvl5pPr>
              <a:defRPr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Point 1 / context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25FD13EE-6430-4F74-B69B-F24DDB1744D1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3309495" y="1388312"/>
            <a:ext cx="2520000" cy="3024938"/>
          </a:xfrm>
          <a:solidFill>
            <a:schemeClr val="tx2">
              <a:lumMod val="20000"/>
              <a:lumOff val="80000"/>
            </a:schemeClr>
          </a:solidFill>
          <a:ln w="25400">
            <a:solidFill>
              <a:srgbClr val="FF6C00"/>
            </a:solidFill>
          </a:ln>
        </p:spPr>
        <p:txBody>
          <a:bodyPr tIns="90000" bIns="90000" anchor="ctr" anchorCtr="0"/>
          <a:lstStyle>
            <a:lvl1pPr marL="0" indent="0" algn="ctr">
              <a:buNone/>
              <a:defRPr b="1">
                <a:solidFill>
                  <a:srgbClr val="53565A"/>
                </a:solidFill>
              </a:defRPr>
            </a:lvl1pPr>
            <a:lvl2pPr>
              <a:defRPr>
                <a:solidFill>
                  <a:srgbClr val="53565A"/>
                </a:solidFill>
              </a:defRPr>
            </a:lvl2pPr>
            <a:lvl3pPr>
              <a:defRPr>
                <a:solidFill>
                  <a:srgbClr val="53565A"/>
                </a:solidFill>
              </a:defRPr>
            </a:lvl3pPr>
            <a:lvl4pPr>
              <a:defRPr>
                <a:solidFill>
                  <a:srgbClr val="53565A"/>
                </a:solidFill>
              </a:defRPr>
            </a:lvl4pPr>
            <a:lvl5pPr>
              <a:defRPr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Point 2 / method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91D258DD-50E3-4859-BF2A-4005F741AF26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047737" y="1388310"/>
            <a:ext cx="2520000" cy="3024939"/>
          </a:xfrm>
          <a:ln w="25400">
            <a:solidFill>
              <a:srgbClr val="FF6C00"/>
            </a:solidFill>
          </a:ln>
        </p:spPr>
        <p:txBody>
          <a:bodyPr tIns="90000" bIns="90000" anchor="ctr" anchorCtr="0"/>
          <a:lstStyle>
            <a:lvl1pPr marL="0" indent="0" algn="ctr">
              <a:buNone/>
              <a:defRPr b="1">
                <a:solidFill>
                  <a:srgbClr val="53565A"/>
                </a:solidFill>
              </a:defRPr>
            </a:lvl1pPr>
            <a:lvl2pPr>
              <a:defRPr>
                <a:solidFill>
                  <a:srgbClr val="53565A"/>
                </a:solidFill>
              </a:defRPr>
            </a:lvl2pPr>
            <a:lvl3pPr>
              <a:defRPr>
                <a:solidFill>
                  <a:srgbClr val="53565A"/>
                </a:solidFill>
              </a:defRPr>
            </a:lvl3pPr>
            <a:lvl4pPr>
              <a:defRPr>
                <a:solidFill>
                  <a:srgbClr val="53565A"/>
                </a:solidFill>
              </a:defRPr>
            </a:lvl4pPr>
            <a:lvl5pPr>
              <a:defRPr>
                <a:solidFill>
                  <a:srgbClr val="53565A"/>
                </a:solidFill>
              </a:defRPr>
            </a:lvl5pPr>
          </a:lstStyle>
          <a:p>
            <a:pPr lvl="0"/>
            <a:r>
              <a:rPr lang="en-US" dirty="0"/>
              <a:t>Point 3 / outcome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48EF-8A62-445F-BC61-5F2DE6CF5BE4}"/>
              </a:ext>
            </a:extLst>
          </p:cNvPr>
          <p:cNvSpPr/>
          <p:nvPr userDrawn="1"/>
        </p:nvSpPr>
        <p:spPr>
          <a:xfrm>
            <a:off x="576263" y="4551363"/>
            <a:ext cx="2520000" cy="489560"/>
          </a:xfrm>
          <a:prstGeom prst="rect">
            <a:avLst/>
          </a:prstGeom>
          <a:noFill/>
          <a:ln w="22225">
            <a:solidFill>
              <a:srgbClr val="535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0000" bIns="90000"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E3110C0-B318-4A0A-AB3D-747E2CF355FE}"/>
              </a:ext>
            </a:extLst>
          </p:cNvPr>
          <p:cNvSpPr/>
          <p:nvPr userDrawn="1"/>
        </p:nvSpPr>
        <p:spPr>
          <a:xfrm>
            <a:off x="3309494" y="4558478"/>
            <a:ext cx="2520001" cy="474630"/>
          </a:xfrm>
          <a:prstGeom prst="rect">
            <a:avLst/>
          </a:prstGeom>
          <a:noFill/>
          <a:ln w="22225">
            <a:solidFill>
              <a:srgbClr val="535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1E57FB-6288-4FF3-8E89-66D6649476F5}"/>
              </a:ext>
            </a:extLst>
          </p:cNvPr>
          <p:cNvSpPr/>
          <p:nvPr userDrawn="1"/>
        </p:nvSpPr>
        <p:spPr>
          <a:xfrm>
            <a:off x="6047736" y="4551363"/>
            <a:ext cx="2520001" cy="474630"/>
          </a:xfrm>
          <a:prstGeom prst="rect">
            <a:avLst/>
          </a:prstGeom>
          <a:noFill/>
          <a:ln w="22225">
            <a:solidFill>
              <a:srgbClr val="5356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84A8EC1C-B526-4360-B24D-E38FF0129F4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115097" y="4582547"/>
            <a:ext cx="432000" cy="432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900"/>
            </a:lvl1pPr>
          </a:lstStyle>
          <a:p>
            <a:r>
              <a:rPr lang="en-GB" dirty="0"/>
              <a:t>QR code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8CDD4B7A-8599-470F-904D-2A8C63BC776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607523" y="4588973"/>
            <a:ext cx="431800" cy="432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800"/>
            </a:lvl1pPr>
          </a:lstStyle>
          <a:p>
            <a:r>
              <a:rPr lang="en-GB" dirty="0"/>
              <a:t>Logo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DDFE7-62B7-4B1E-B2BA-E7EC41335B8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39323" y="4588485"/>
            <a:ext cx="2051540" cy="42545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en-GB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Journal/funder details</a:t>
            </a:r>
            <a:endParaRPr lang="en-GB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ADD381FB-221F-4C10-8795-6B9D553830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4504" y="4590074"/>
            <a:ext cx="2514991" cy="425450"/>
          </a:xfrm>
        </p:spPr>
        <p:txBody>
          <a:bodyPr tIns="90000" bIns="90000" anchor="ctr" anchorCtr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en-GB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Author details</a:t>
            </a:r>
            <a:endParaRPr lang="en-GB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A809AA36-C8AF-4DD9-A92A-49EEA43C3A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66885" y="4590150"/>
            <a:ext cx="2018062" cy="425450"/>
          </a:xfrm>
        </p:spPr>
        <p:txBody>
          <a:bodyPr tIns="90000" bIns="90000" anchor="ctr" anchorCtr="0">
            <a:noAutofit/>
          </a:bodyPr>
          <a:lstStyle>
            <a:lvl1pPr marL="0" indent="0" algn="ctr">
              <a:buNone/>
              <a:defRPr lang="en-US" sz="12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>
              <a:defRPr lang="en-US" sz="1100" kern="1200" dirty="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>
              <a:defRPr lang="en-GB" sz="1100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Reference details</a:t>
            </a:r>
            <a:endParaRPr lang="en-GB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4000" y="4722258"/>
            <a:ext cx="3086100" cy="16281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44000" y="4531201"/>
            <a:ext cx="3086100" cy="16224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cxnSp>
        <p:nvCxnSpPr>
          <p:cNvPr id="7" name="Straight Connector 6"/>
          <p:cNvCxnSpPr/>
          <p:nvPr userDrawn="1"/>
        </p:nvCxnSpPr>
        <p:spPr>
          <a:xfrm flipV="1">
            <a:off x="576263" y="4443413"/>
            <a:ext cx="7991475" cy="1"/>
          </a:xfrm>
          <a:prstGeom prst="line">
            <a:avLst/>
          </a:prstGeom>
          <a:ln w="12700">
            <a:solidFill>
              <a:srgbClr val="DCDCD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B4928590-4084-6B40-8DED-B4F8C98BED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000" y="4531201"/>
            <a:ext cx="401839" cy="444500"/>
          </a:xfrm>
          <a:prstGeom prst="rect">
            <a:avLst/>
          </a:prstGeom>
        </p:spPr>
      </p:pic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76000" y="440861"/>
            <a:ext cx="7991738" cy="462759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  <a:endParaRPr lang="de-DE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576000" y="1076659"/>
            <a:ext cx="7991738" cy="3425729"/>
          </a:xfrm>
          <a:prstGeom prst="rect">
            <a:avLst/>
          </a:prstGeom>
        </p:spPr>
        <p:txBody>
          <a:bodyPr vert="horz" lIns="91440" tIns="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5DEE88-71BA-4950-8D35-00B2B8E793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10338" y="4722258"/>
            <a:ext cx="2057400" cy="16200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89014-7F8D-47C1-8D79-17A715C9D2BB}" type="slidenum">
              <a:rPr lang="nl-NL" smtClean="0"/>
              <a:pPr/>
              <a:t>‹#›</a:t>
            </a:fld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27558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</p:sldLayoutIdLst>
  <p:hf hdr="0" ftr="0" dt="0"/>
  <p:txStyles>
    <p:titleStyle>
      <a:lvl1pPr algn="l" defTabSz="6858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6700" indent="-266700" algn="l" defTabSz="6858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rgbClr val="FF6C00"/>
        </a:buClr>
        <a:buFont typeface="Arial" panose="020B0604020202020204" pitchFamily="34" charset="0"/>
        <a:buChar char="•"/>
        <a:tabLst>
          <a:tab pos="266700" algn="l"/>
        </a:tabLst>
        <a:defRPr lang="nl-NL" sz="1800" kern="1200" dirty="0" smtClean="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Arial" panose="020B0604020202020204" pitchFamily="34" charset="0"/>
        <a:buChar char="−"/>
        <a:defRPr lang="nl-NL" sz="16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Courier New" panose="02070309020205020404" pitchFamily="49" charset="0"/>
        <a:buChar char="o"/>
        <a:defRPr lang="nl-NL" sz="16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Courier New" panose="02070309020205020404" pitchFamily="49" charset="0"/>
        <a:buChar char="o"/>
        <a:defRPr lang="nl-NL" sz="16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spcAft>
          <a:spcPts val="600"/>
        </a:spcAft>
        <a:buClr>
          <a:srgbClr val="FF6C00"/>
        </a:buClr>
        <a:buFont typeface="Courier New" panose="02070309020205020404" pitchFamily="49" charset="0"/>
        <a:buChar char="o"/>
        <a:defRPr lang="de-DE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1714500" indent="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None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63">
          <p15:clr>
            <a:srgbClr val="F26B43"/>
          </p15:clr>
        </p15:guide>
        <p15:guide id="2" pos="2880">
          <p15:clr>
            <a:srgbClr val="F26B43"/>
          </p15:clr>
        </p15:guide>
        <p15:guide id="3" pos="2699">
          <p15:clr>
            <a:srgbClr val="F26B43"/>
          </p15:clr>
        </p15:guide>
        <p15:guide id="4" pos="3061">
          <p15:clr>
            <a:srgbClr val="F26B43"/>
          </p15:clr>
        </p15:guide>
        <p15:guide id="5" pos="5397">
          <p15:clr>
            <a:srgbClr val="F26B43"/>
          </p15:clr>
        </p15:guide>
        <p15:guide id="6" orient="horz" pos="373">
          <p15:clr>
            <a:srgbClr val="F26B43"/>
          </p15:clr>
        </p15:guide>
        <p15:guide id="7" orient="horz" pos="286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7.jpe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svg"/><Relationship Id="rId9" Type="http://schemas.openxmlformats.org/officeDocument/2006/relationships/image" Target="../media/image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Text Placeholder 1">
            <a:extLst>
              <a:ext uri="{FF2B5EF4-FFF2-40B4-BE49-F238E27FC236}">
                <a16:creationId xmlns:a16="http://schemas.microsoft.com/office/drawing/2014/main" id="{A4F8E358-75E9-382C-D889-B9C0DA58A53B}"/>
              </a:ext>
            </a:extLst>
          </p:cNvPr>
          <p:cNvSpPr txBox="1">
            <a:spLocks/>
          </p:cNvSpPr>
          <p:nvPr/>
        </p:nvSpPr>
        <p:spPr>
          <a:xfrm>
            <a:off x="560976" y="4564344"/>
            <a:ext cx="2491035" cy="477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 cmpd="sng" algn="ctr">
            <a:solidFill>
              <a:srgbClr val="3678DF"/>
            </a:solidFill>
            <a:prstDash val="solid"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tabLst>
                <a:tab pos="266700" algn="l"/>
              </a:tabLst>
              <a:defRPr lang="nl-NL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de-DE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solidFill>
                <a:srgbClr val="53565A"/>
              </a:solidFill>
            </a:endParaRPr>
          </a:p>
        </p:txBody>
      </p:sp>
      <p:sp>
        <p:nvSpPr>
          <p:cNvPr id="1512" name="Text Placeholder 1">
            <a:extLst>
              <a:ext uri="{FF2B5EF4-FFF2-40B4-BE49-F238E27FC236}">
                <a16:creationId xmlns:a16="http://schemas.microsoft.com/office/drawing/2014/main" id="{940D4BD9-3A41-236D-4442-B851BAE8B42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263" y="116670"/>
            <a:ext cx="7991475" cy="720000"/>
          </a:xfrm>
          <a:solidFill>
            <a:schemeClr val="accent1">
              <a:lumMod val="20000"/>
              <a:lumOff val="80000"/>
            </a:schemeClr>
          </a:solidFill>
          <a:ln w="22225" cap="rnd">
            <a:solidFill>
              <a:srgbClr val="3678DF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/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53565A"/>
                </a:solidFill>
              </a:rPr>
              <a:t>Performance-Based Probabilistic RUL Prediction via Particle Filtering </a:t>
            </a:r>
          </a:p>
          <a:p>
            <a:pPr>
              <a:spcAft>
                <a:spcPts val="0"/>
              </a:spcAft>
            </a:pPr>
            <a:r>
              <a:rPr lang="en-US" sz="1600" b="1" dirty="0">
                <a:solidFill>
                  <a:srgbClr val="53565A"/>
                </a:solidFill>
              </a:rPr>
              <a:t>with Neural-Guided Inference.</a:t>
            </a:r>
            <a:endParaRPr lang="en-GB" sz="1600" b="1" dirty="0">
              <a:solidFill>
                <a:srgbClr val="53565A"/>
              </a:solidFill>
            </a:endParaRPr>
          </a:p>
        </p:txBody>
      </p:sp>
      <p:sp>
        <p:nvSpPr>
          <p:cNvPr id="1514" name="Rounded Rectangle 1513">
            <a:extLst>
              <a:ext uri="{FF2B5EF4-FFF2-40B4-BE49-F238E27FC236}">
                <a16:creationId xmlns:a16="http://schemas.microsoft.com/office/drawing/2014/main" id="{9EC3DFD2-DCAD-A853-F526-CED54769639F}"/>
              </a:ext>
            </a:extLst>
          </p:cNvPr>
          <p:cNvSpPr/>
          <p:nvPr/>
        </p:nvSpPr>
        <p:spPr>
          <a:xfrm>
            <a:off x="587520" y="1419983"/>
            <a:ext cx="7980218" cy="302493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>
            <a:solidFill>
              <a:schemeClr val="accent1"/>
            </a:solidFill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/>
          <a:p>
            <a:pPr algn="ctr" defTabSz="685800">
              <a:spcAft>
                <a:spcPts val="600"/>
              </a:spcAft>
              <a:buClr>
                <a:srgbClr val="FF6C00"/>
              </a:buClr>
              <a:tabLst>
                <a:tab pos="266700" algn="l"/>
              </a:tabLst>
            </a:pPr>
            <a:endParaRPr lang="en-US" b="1" dirty="0">
              <a:solidFill>
                <a:srgbClr val="53565A"/>
              </a:solidFill>
            </a:endParaRPr>
          </a:p>
        </p:txBody>
      </p:sp>
      <p:sp>
        <p:nvSpPr>
          <p:cNvPr id="1676" name="Rectangle 1675">
            <a:extLst>
              <a:ext uri="{FF2B5EF4-FFF2-40B4-BE49-F238E27FC236}">
                <a16:creationId xmlns:a16="http://schemas.microsoft.com/office/drawing/2014/main" id="{333D4CF3-1853-3556-04B8-E9E1398B5B37}"/>
              </a:ext>
            </a:extLst>
          </p:cNvPr>
          <p:cNvSpPr/>
          <p:nvPr/>
        </p:nvSpPr>
        <p:spPr>
          <a:xfrm>
            <a:off x="6091991" y="1701561"/>
            <a:ext cx="1996746" cy="24420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17" name="Picture 1716">
            <a:extLst>
              <a:ext uri="{FF2B5EF4-FFF2-40B4-BE49-F238E27FC236}">
                <a16:creationId xmlns:a16="http://schemas.microsoft.com/office/drawing/2014/main" id="{B96967A3-4F39-CDEC-57C2-C98B3FEF6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4199" y="2601279"/>
            <a:ext cx="1548680" cy="122452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sp>
        <p:nvSpPr>
          <p:cNvPr id="1720" name="TextBox 1719">
            <a:extLst>
              <a:ext uri="{FF2B5EF4-FFF2-40B4-BE49-F238E27FC236}">
                <a16:creationId xmlns:a16="http://schemas.microsoft.com/office/drawing/2014/main" id="{6E76DE0E-DF1E-6CB8-F43F-57D31F5EE616}"/>
              </a:ext>
            </a:extLst>
          </p:cNvPr>
          <p:cNvSpPr txBox="1"/>
          <p:nvPr/>
        </p:nvSpPr>
        <p:spPr>
          <a:xfrm>
            <a:off x="6436793" y="3852895"/>
            <a:ext cx="138349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/>
              <a:t>RUL Prediction with Uncertainty</a:t>
            </a:r>
          </a:p>
        </p:txBody>
      </p:sp>
      <p:sp>
        <p:nvSpPr>
          <p:cNvPr id="1722" name="Chevron 1721">
            <a:extLst>
              <a:ext uri="{FF2B5EF4-FFF2-40B4-BE49-F238E27FC236}">
                <a16:creationId xmlns:a16="http://schemas.microsoft.com/office/drawing/2014/main" id="{50B29882-9090-F6BD-E676-64FE53BFF1A5}"/>
              </a:ext>
            </a:extLst>
          </p:cNvPr>
          <p:cNvSpPr/>
          <p:nvPr/>
        </p:nvSpPr>
        <p:spPr>
          <a:xfrm>
            <a:off x="703381" y="908156"/>
            <a:ext cx="2716541" cy="361424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Estimate System Health</a:t>
            </a:r>
          </a:p>
        </p:txBody>
      </p:sp>
      <p:sp>
        <p:nvSpPr>
          <p:cNvPr id="1723" name="Chevron 1722">
            <a:extLst>
              <a:ext uri="{FF2B5EF4-FFF2-40B4-BE49-F238E27FC236}">
                <a16:creationId xmlns:a16="http://schemas.microsoft.com/office/drawing/2014/main" id="{41990203-DEA8-5C33-5188-BA1563E9F41B}"/>
              </a:ext>
            </a:extLst>
          </p:cNvPr>
          <p:cNvSpPr/>
          <p:nvPr/>
        </p:nvSpPr>
        <p:spPr>
          <a:xfrm>
            <a:off x="3437028" y="916045"/>
            <a:ext cx="2490234" cy="361424"/>
          </a:xfrm>
          <a:prstGeom prst="chevron">
            <a:avLst/>
          </a:prstGeom>
          <a:solidFill>
            <a:schemeClr val="accent1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Predict Degradation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24" name="Chevron 1723">
            <a:extLst>
              <a:ext uri="{FF2B5EF4-FFF2-40B4-BE49-F238E27FC236}">
                <a16:creationId xmlns:a16="http://schemas.microsoft.com/office/drawing/2014/main" id="{D629FD2D-9353-BDF9-E902-E633712559BE}"/>
              </a:ext>
            </a:extLst>
          </p:cNvPr>
          <p:cNvSpPr/>
          <p:nvPr/>
        </p:nvSpPr>
        <p:spPr>
          <a:xfrm>
            <a:off x="5927262" y="916045"/>
            <a:ext cx="2605245" cy="361424"/>
          </a:xfrm>
          <a:prstGeom prst="chevron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Infer RUL Distribution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728" name="TextBox 1727">
            <a:extLst>
              <a:ext uri="{FF2B5EF4-FFF2-40B4-BE49-F238E27FC236}">
                <a16:creationId xmlns:a16="http://schemas.microsoft.com/office/drawing/2014/main" id="{36282716-83F0-9338-B944-5496BB156608}"/>
              </a:ext>
            </a:extLst>
          </p:cNvPr>
          <p:cNvSpPr txBox="1"/>
          <p:nvPr/>
        </p:nvSpPr>
        <p:spPr>
          <a:xfrm>
            <a:off x="968376" y="4624058"/>
            <a:ext cx="20836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/>
              <a:t>Validated Using Multiple N-CMAPSS Benchmark Datasets</a:t>
            </a:r>
          </a:p>
        </p:txBody>
      </p:sp>
      <p:pic>
        <p:nvPicPr>
          <p:cNvPr id="1729" name="Graphic 1728" descr="Database with solid fill">
            <a:extLst>
              <a:ext uri="{FF2B5EF4-FFF2-40B4-BE49-F238E27FC236}">
                <a16:creationId xmlns:a16="http://schemas.microsoft.com/office/drawing/2014/main" id="{25D93089-FC3D-8882-B931-557609B43A1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725" y="4572152"/>
            <a:ext cx="461563" cy="461563"/>
          </a:xfrm>
          <a:prstGeom prst="rect">
            <a:avLst/>
          </a:prstGeom>
        </p:spPr>
      </p:pic>
      <p:sp>
        <p:nvSpPr>
          <p:cNvPr id="1733" name="Text Placeholder 1">
            <a:extLst>
              <a:ext uri="{FF2B5EF4-FFF2-40B4-BE49-F238E27FC236}">
                <a16:creationId xmlns:a16="http://schemas.microsoft.com/office/drawing/2014/main" id="{80D57312-E91B-A54C-28AC-81EF15EDB26D}"/>
              </a:ext>
            </a:extLst>
          </p:cNvPr>
          <p:cNvSpPr txBox="1">
            <a:spLocks/>
          </p:cNvSpPr>
          <p:nvPr/>
        </p:nvSpPr>
        <p:spPr>
          <a:xfrm>
            <a:off x="3317503" y="4564344"/>
            <a:ext cx="2545558" cy="477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 cmpd="sng" algn="ctr">
            <a:solidFill>
              <a:srgbClr val="3678DF"/>
            </a:solidFill>
            <a:prstDash val="solid"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tabLst>
                <a:tab pos="266700" algn="l"/>
              </a:tabLst>
              <a:defRPr lang="nl-NL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de-DE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solidFill>
                <a:srgbClr val="53565A"/>
              </a:solidFill>
            </a:endParaRPr>
          </a:p>
        </p:txBody>
      </p:sp>
      <p:sp>
        <p:nvSpPr>
          <p:cNvPr id="1734" name="Text Placeholder 1">
            <a:extLst>
              <a:ext uri="{FF2B5EF4-FFF2-40B4-BE49-F238E27FC236}">
                <a16:creationId xmlns:a16="http://schemas.microsoft.com/office/drawing/2014/main" id="{CA0CFE2E-F1B0-9A5F-D4CB-1A8255F829E5}"/>
              </a:ext>
            </a:extLst>
          </p:cNvPr>
          <p:cNvSpPr txBox="1">
            <a:spLocks/>
          </p:cNvSpPr>
          <p:nvPr/>
        </p:nvSpPr>
        <p:spPr>
          <a:xfrm>
            <a:off x="6091991" y="4564344"/>
            <a:ext cx="2491033" cy="4779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2225" cap="rnd" cmpd="sng" algn="ctr">
            <a:solidFill>
              <a:srgbClr val="3678DF"/>
            </a:solidFill>
            <a:prstDash val="solid"/>
            <a:rou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lIns="91440" tIns="90000" rIns="91440" bIns="90000" rtlCol="0" anchor="ctr" anchorCtr="0">
            <a:normAutofit/>
          </a:bodyPr>
          <a:lstStyle>
            <a:lvl1pPr marL="0" indent="0" algn="ctr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tabLst>
                <a:tab pos="266700" algn="l"/>
              </a:tabLst>
              <a:defRPr lang="nl-NL"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Arial" panose="020B0604020202020204" pitchFamily="34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nl-NL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685800" rtl="0" eaLnBrk="1" latinLnBrk="0" hangingPunct="1">
              <a:lnSpc>
                <a:spcPts val="3600"/>
              </a:lnSpc>
              <a:spcBef>
                <a:spcPts val="375"/>
              </a:spcBef>
              <a:spcAft>
                <a:spcPts val="600"/>
              </a:spcAft>
              <a:buClr>
                <a:srgbClr val="FF6C00"/>
              </a:buClr>
              <a:buFont typeface="Courier New" panose="02070309020205020404" pitchFamily="49" charset="0"/>
              <a:buNone/>
              <a:defRPr lang="de-DE" sz="3000" kern="1200">
                <a:solidFill>
                  <a:srgbClr val="FF6C00"/>
                </a:solidFill>
                <a:latin typeface="+mn-lt"/>
                <a:ea typeface="+mn-ea"/>
                <a:cs typeface="+mn-cs"/>
              </a:defRPr>
            </a:lvl5pPr>
            <a:lvl6pPr marL="17145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b="1" dirty="0">
              <a:solidFill>
                <a:srgbClr val="53565A"/>
              </a:solidFill>
            </a:endParaRPr>
          </a:p>
        </p:txBody>
      </p:sp>
      <p:sp>
        <p:nvSpPr>
          <p:cNvPr id="1730" name="TextBox 1729">
            <a:extLst>
              <a:ext uri="{FF2B5EF4-FFF2-40B4-BE49-F238E27FC236}">
                <a16:creationId xmlns:a16="http://schemas.microsoft.com/office/drawing/2014/main" id="{C64D7E31-E220-5352-AB95-7EAE2B7FD58C}"/>
              </a:ext>
            </a:extLst>
          </p:cNvPr>
          <p:cNvSpPr txBox="1"/>
          <p:nvPr/>
        </p:nvSpPr>
        <p:spPr>
          <a:xfrm>
            <a:off x="4054725" y="4580589"/>
            <a:ext cx="14724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100"/>
            </a:lvl1pPr>
          </a:lstStyle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800" dirty="0"/>
              <a:t>Competitive Accuracy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800" dirty="0"/>
              <a:t>Interpretable Predictions </a:t>
            </a:r>
          </a:p>
          <a:p>
            <a:pPr marL="91440" indent="-171450">
              <a:buFont typeface="Arial" panose="020B0604020202020204" pitchFamily="34" charset="0"/>
              <a:buChar char="•"/>
            </a:pPr>
            <a:r>
              <a:rPr lang="en-US" sz="800" dirty="0"/>
              <a:t>Calibrated Uncertainty</a:t>
            </a:r>
          </a:p>
        </p:txBody>
      </p:sp>
      <p:pic>
        <p:nvPicPr>
          <p:cNvPr id="1736" name="Graphic 1735" descr="Presentation with pie chart with solid fill">
            <a:extLst>
              <a:ext uri="{FF2B5EF4-FFF2-40B4-BE49-F238E27FC236}">
                <a16:creationId xmlns:a16="http://schemas.microsoft.com/office/drawing/2014/main" id="{169D10BD-E4B4-71E2-BAAB-E5072182D3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01491" y="4555805"/>
            <a:ext cx="477910" cy="477910"/>
          </a:xfrm>
          <a:prstGeom prst="rect">
            <a:avLst/>
          </a:prstGeom>
        </p:spPr>
      </p:pic>
      <p:sp>
        <p:nvSpPr>
          <p:cNvPr id="1731" name="TextBox 1730">
            <a:extLst>
              <a:ext uri="{FF2B5EF4-FFF2-40B4-BE49-F238E27FC236}">
                <a16:creationId xmlns:a16="http://schemas.microsoft.com/office/drawing/2014/main" id="{ABE53129-E195-9DD8-6F3A-1233996665DF}"/>
              </a:ext>
            </a:extLst>
          </p:cNvPr>
          <p:cNvSpPr txBox="1"/>
          <p:nvPr/>
        </p:nvSpPr>
        <p:spPr>
          <a:xfrm>
            <a:off x="6580635" y="4572050"/>
            <a:ext cx="2098293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sz="800" dirty="0"/>
              <a:t>Separating Estimation and Prediction Improves Interpretable and Uncertainty-Aware RUL Prognostics</a:t>
            </a:r>
          </a:p>
        </p:txBody>
      </p:sp>
      <p:pic>
        <p:nvPicPr>
          <p:cNvPr id="1738" name="Graphic 1737" descr="Clipboard with solid fill">
            <a:extLst>
              <a:ext uri="{FF2B5EF4-FFF2-40B4-BE49-F238E27FC236}">
                <a16:creationId xmlns:a16="http://schemas.microsoft.com/office/drawing/2014/main" id="{F71A9653-94BA-EE59-0716-8BD357FB83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58016" y="4595072"/>
            <a:ext cx="419996" cy="419996"/>
          </a:xfrm>
          <a:prstGeom prst="rect">
            <a:avLst/>
          </a:prstGeom>
        </p:spPr>
      </p:pic>
      <p:sp>
        <p:nvSpPr>
          <p:cNvPr id="11" name="L-Shape 10">
            <a:extLst>
              <a:ext uri="{FF2B5EF4-FFF2-40B4-BE49-F238E27FC236}">
                <a16:creationId xmlns:a16="http://schemas.microsoft.com/office/drawing/2014/main" id="{06762849-3E9B-8B7E-5C22-298520FF38B7}"/>
              </a:ext>
            </a:extLst>
          </p:cNvPr>
          <p:cNvSpPr/>
          <p:nvPr/>
        </p:nvSpPr>
        <p:spPr>
          <a:xfrm>
            <a:off x="1272115" y="1701561"/>
            <a:ext cx="3490696" cy="2398610"/>
          </a:xfrm>
          <a:prstGeom prst="corner">
            <a:avLst>
              <a:gd name="adj1" fmla="val 43244"/>
              <a:gd name="adj2" fmla="val 86246"/>
            </a:avLst>
          </a:prstGeom>
          <a:solidFill>
            <a:schemeClr val="accent1">
              <a:lumMod val="60000"/>
              <a:lumOff val="40000"/>
            </a:scheme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2" name="Picture 14">
            <a:extLst>
              <a:ext uri="{FF2B5EF4-FFF2-40B4-BE49-F238E27FC236}">
                <a16:creationId xmlns:a16="http://schemas.microsoft.com/office/drawing/2014/main" id="{068740F9-9268-B887-4419-4EBAFF0BE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2758" y="1819198"/>
            <a:ext cx="1136598" cy="65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sp>
        <p:nvSpPr>
          <p:cNvPr id="1563" name="TextBox 1562">
            <a:extLst>
              <a:ext uri="{FF2B5EF4-FFF2-40B4-BE49-F238E27FC236}">
                <a16:creationId xmlns:a16="http://schemas.microsoft.com/office/drawing/2014/main" id="{F84C9BC3-D82C-79A6-7DF5-AA993D8EFDC1}"/>
              </a:ext>
            </a:extLst>
          </p:cNvPr>
          <p:cNvSpPr txBox="1"/>
          <p:nvPr/>
        </p:nvSpPr>
        <p:spPr>
          <a:xfrm>
            <a:off x="1582869" y="2565880"/>
            <a:ext cx="123944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Performance Metric Estimation</a:t>
            </a:r>
          </a:p>
        </p:txBody>
      </p:sp>
      <p:sp>
        <p:nvSpPr>
          <p:cNvPr id="1564" name="TextBox 1563">
            <a:extLst>
              <a:ext uri="{FF2B5EF4-FFF2-40B4-BE49-F238E27FC236}">
                <a16:creationId xmlns:a16="http://schemas.microsoft.com/office/drawing/2014/main" id="{2A9C5FA3-D90E-55FA-0ABD-D9CF62F5A88D}"/>
              </a:ext>
            </a:extLst>
          </p:cNvPr>
          <p:cNvSpPr txBox="1"/>
          <p:nvPr/>
        </p:nvSpPr>
        <p:spPr>
          <a:xfrm>
            <a:off x="3400163" y="3830402"/>
            <a:ext cx="11128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" dirty="0"/>
              <a:t>Posterior Distribution </a:t>
            </a:r>
          </a:p>
          <a:p>
            <a:pPr algn="ctr"/>
            <a:r>
              <a:rPr lang="en-US" sz="600" dirty="0"/>
              <a:t>of Degradation Parameters</a:t>
            </a:r>
          </a:p>
        </p:txBody>
      </p:sp>
      <p:cxnSp>
        <p:nvCxnSpPr>
          <p:cNvPr id="1635" name="Straight Arrow Connector 1634">
            <a:extLst>
              <a:ext uri="{FF2B5EF4-FFF2-40B4-BE49-F238E27FC236}">
                <a16:creationId xmlns:a16="http://schemas.microsoft.com/office/drawing/2014/main" id="{D5091B8E-C8CC-D742-BFBB-D5E0CEFF8186}"/>
              </a:ext>
            </a:extLst>
          </p:cNvPr>
          <p:cNvCxnSpPr>
            <a:cxnSpLocks/>
          </p:cNvCxnSpPr>
          <p:nvPr/>
        </p:nvCxnSpPr>
        <p:spPr>
          <a:xfrm>
            <a:off x="1878688" y="2779260"/>
            <a:ext cx="0" cy="298629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6" name="Group 1635">
            <a:extLst>
              <a:ext uri="{FF2B5EF4-FFF2-40B4-BE49-F238E27FC236}">
                <a16:creationId xmlns:a16="http://schemas.microsoft.com/office/drawing/2014/main" id="{51ACCB65-7598-7625-4D12-6574052C137B}"/>
              </a:ext>
            </a:extLst>
          </p:cNvPr>
          <p:cNvGrpSpPr/>
          <p:nvPr/>
        </p:nvGrpSpPr>
        <p:grpSpPr>
          <a:xfrm>
            <a:off x="587520" y="1929584"/>
            <a:ext cx="696024" cy="660428"/>
            <a:chOff x="625157" y="3010359"/>
            <a:chExt cx="696024" cy="660428"/>
          </a:xfrm>
        </p:grpSpPr>
        <p:pic>
          <p:nvPicPr>
            <p:cNvPr id="1637" name="Picture 4" descr="25,411 Sensor Data Icon Royalty-Free Images, Stock Photos &amp; Pictures |  Shutterstock">
              <a:extLst>
                <a:ext uri="{FF2B5EF4-FFF2-40B4-BE49-F238E27FC236}">
                  <a16:creationId xmlns:a16="http://schemas.microsoft.com/office/drawing/2014/main" id="{AD8F43F6-0CCA-8140-64D8-67CCF31C111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367" t="12794" r="24839" b="16479"/>
            <a:stretch>
              <a:fillRect/>
            </a:stretch>
          </p:blipFill>
          <p:spPr bwMode="auto">
            <a:xfrm>
              <a:off x="763528" y="3010359"/>
              <a:ext cx="419277" cy="411065"/>
            </a:xfrm>
            <a:prstGeom prst="rect">
              <a:avLst/>
            </a:prstGeom>
            <a:noFill/>
            <a:ln>
              <a:solidFill>
                <a:schemeClr val="bg2">
                  <a:lumMod val="1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38" name="TextBox 1637">
              <a:extLst>
                <a:ext uri="{FF2B5EF4-FFF2-40B4-BE49-F238E27FC236}">
                  <a16:creationId xmlns:a16="http://schemas.microsoft.com/office/drawing/2014/main" id="{959B66D5-56F1-BD45-E695-0D8E877A13D1}"/>
                </a:ext>
              </a:extLst>
            </p:cNvPr>
            <p:cNvSpPr txBox="1"/>
            <p:nvPr/>
          </p:nvSpPr>
          <p:spPr>
            <a:xfrm>
              <a:off x="625157" y="3393788"/>
              <a:ext cx="6960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/>
                <a:t>Sensor</a:t>
              </a:r>
            </a:p>
            <a:p>
              <a:pPr algn="ctr"/>
              <a:r>
                <a:rPr lang="en-US" sz="600" dirty="0"/>
                <a:t>measurements</a:t>
              </a:r>
            </a:p>
          </p:txBody>
        </p:sp>
      </p:grpSp>
      <p:cxnSp>
        <p:nvCxnSpPr>
          <p:cNvPr id="1639" name="Straight Arrow Connector 1638">
            <a:extLst>
              <a:ext uri="{FF2B5EF4-FFF2-40B4-BE49-F238E27FC236}">
                <a16:creationId xmlns:a16="http://schemas.microsoft.com/office/drawing/2014/main" id="{3BB1D9BC-ACA1-DC09-70B4-C28689E0FEE9}"/>
              </a:ext>
            </a:extLst>
          </p:cNvPr>
          <p:cNvCxnSpPr>
            <a:cxnSpLocks/>
            <a:stCxn id="1637" idx="3"/>
          </p:cNvCxnSpPr>
          <p:nvPr/>
        </p:nvCxnSpPr>
        <p:spPr>
          <a:xfrm>
            <a:off x="1145168" y="2135117"/>
            <a:ext cx="393806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25" name="Picture 14">
            <a:extLst>
              <a:ext uri="{FF2B5EF4-FFF2-40B4-BE49-F238E27FC236}">
                <a16:creationId xmlns:a16="http://schemas.microsoft.com/office/drawing/2014/main" id="{88676F30-7E02-1612-5C4C-B246CAAB7D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7648" y="1860546"/>
            <a:ext cx="1136598" cy="65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pic>
        <p:nvPicPr>
          <p:cNvPr id="1726" name="Picture 14">
            <a:extLst>
              <a:ext uri="{FF2B5EF4-FFF2-40B4-BE49-F238E27FC236}">
                <a16:creationId xmlns:a16="http://schemas.microsoft.com/office/drawing/2014/main" id="{0ED833DE-3921-1EBF-22E6-4DA772751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7950" y="1919755"/>
            <a:ext cx="1136598" cy="656875"/>
          </a:xfrm>
          <a:prstGeom prst="rect">
            <a:avLst/>
          </a:prstGeom>
          <a:solidFill>
            <a:schemeClr val="bg1"/>
          </a:solidFill>
          <a:ln w="9525">
            <a:solidFill>
              <a:schemeClr val="bg2">
                <a:lumMod val="10000"/>
              </a:schemeClr>
            </a:solidFill>
          </a:ln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4C6D005B-8451-89F5-03D5-CE780513A916}"/>
              </a:ext>
            </a:extLst>
          </p:cNvPr>
          <p:cNvGrpSpPr/>
          <p:nvPr/>
        </p:nvGrpSpPr>
        <p:grpSpPr>
          <a:xfrm>
            <a:off x="1506681" y="3100734"/>
            <a:ext cx="719172" cy="829635"/>
            <a:chOff x="1642534" y="3382993"/>
            <a:chExt cx="809417" cy="811462"/>
          </a:xfrm>
        </p:grpSpPr>
        <p:sp>
          <p:nvSpPr>
            <p:cNvPr id="1739" name="Neural PF Controller"/>
            <p:cNvSpPr/>
            <p:nvPr/>
          </p:nvSpPr>
          <p:spPr>
            <a:xfrm>
              <a:off x="1642534" y="3382993"/>
              <a:ext cx="809417" cy="811462"/>
            </a:xfrm>
            <a:prstGeom prst="roundRect">
              <a:avLst/>
            </a:prstGeom>
            <a:solidFill>
              <a:srgbClr val="D6E4F0"/>
            </a:solidFill>
            <a:ln w="15875">
              <a:solidFill>
                <a:srgbClr val="1F6B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bIns="25400" rtlCol="0" anchor="t"/>
            <a:lstStyle/>
            <a:p>
              <a:pPr algn="ctr"/>
              <a:r>
                <a:rPr sz="900" b="1" dirty="0">
                  <a:solidFill>
                    <a:srgbClr val="0D375E"/>
                  </a:solidFill>
                </a:rPr>
                <a:t>Neural PF </a:t>
              </a:r>
              <a:endParaRPr lang="en-US" sz="900" b="1" dirty="0">
                <a:solidFill>
                  <a:srgbClr val="0D375E"/>
                </a:solidFill>
              </a:endParaRPr>
            </a:p>
            <a:p>
              <a:pPr algn="ctr"/>
              <a:r>
                <a:rPr sz="900" b="1" dirty="0">
                  <a:solidFill>
                    <a:srgbClr val="0D375E"/>
                  </a:solidFill>
                </a:rPr>
                <a:t>Controller</a:t>
              </a:r>
              <a:r>
                <a:rPr lang="en-US" sz="900" b="1" dirty="0">
                  <a:solidFill>
                    <a:srgbClr val="0D375E"/>
                  </a:solidFill>
                </a:rPr>
                <a:t> </a:t>
              </a:r>
            </a:p>
          </p:txBody>
        </p:sp>
        <p:pic>
          <p:nvPicPr>
            <p:cNvPr id="7" name="Picture 14">
              <a:extLst>
                <a:ext uri="{FF2B5EF4-FFF2-40B4-BE49-F238E27FC236}">
                  <a16:creationId xmlns:a16="http://schemas.microsoft.com/office/drawing/2014/main" id="{80078BF5-8B46-11C6-D2E8-34D40526AE9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41" t="15136" r="12145" b="14096"/>
            <a:stretch>
              <a:fillRect/>
            </a:stretch>
          </p:blipFill>
          <p:spPr bwMode="auto">
            <a:xfrm>
              <a:off x="1879470" y="3817513"/>
              <a:ext cx="319695" cy="293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8DCA2C59-59FB-0259-FAF9-03C68320120E}"/>
              </a:ext>
            </a:extLst>
          </p:cNvPr>
          <p:cNvGrpSpPr/>
          <p:nvPr/>
        </p:nvGrpSpPr>
        <p:grpSpPr>
          <a:xfrm>
            <a:off x="2445591" y="3101588"/>
            <a:ext cx="688702" cy="821098"/>
            <a:chOff x="2726209" y="3246906"/>
            <a:chExt cx="887151" cy="821077"/>
          </a:xfrm>
        </p:grpSpPr>
        <p:sp>
          <p:nvSpPr>
            <p:cNvPr id="3" name="Neural PF Controller">
              <a:extLst>
                <a:ext uri="{FF2B5EF4-FFF2-40B4-BE49-F238E27FC236}">
                  <a16:creationId xmlns:a16="http://schemas.microsoft.com/office/drawing/2014/main" id="{4754EE3D-D82A-F4A1-052D-ECAACC0344CA}"/>
                </a:ext>
              </a:extLst>
            </p:cNvPr>
            <p:cNvSpPr/>
            <p:nvPr/>
          </p:nvSpPr>
          <p:spPr>
            <a:xfrm>
              <a:off x="2726209" y="3246906"/>
              <a:ext cx="887151" cy="821077"/>
            </a:xfrm>
            <a:prstGeom prst="roundRect">
              <a:avLst/>
            </a:prstGeom>
            <a:solidFill>
              <a:srgbClr val="D6E4F0"/>
            </a:solidFill>
            <a:ln w="15875">
              <a:solidFill>
                <a:srgbClr val="1F6B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bIns="25400" rtlCol="0" anchor="t"/>
            <a:lstStyle/>
            <a:p>
              <a:pPr algn="ctr"/>
              <a:r>
                <a:rPr lang="en-US" sz="900" b="1" dirty="0">
                  <a:solidFill>
                    <a:srgbClr val="0D375E"/>
                  </a:solidFill>
                </a:rPr>
                <a:t>Particle Filter</a:t>
              </a:r>
              <a:endParaRPr sz="900" b="1" dirty="0">
                <a:solidFill>
                  <a:srgbClr val="0D375E"/>
                </a:solidFill>
              </a:endParaRPr>
            </a:p>
          </p:txBody>
        </p:sp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6CB4AD6B-2DEF-0C13-8C3C-FF90752F33A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86594" y="3694930"/>
              <a:ext cx="597693" cy="245481"/>
            </a:xfrm>
            <a:prstGeom prst="rect">
              <a:avLst/>
            </a:prstGeom>
          </p:spPr>
        </p:pic>
      </p:grpSp>
      <p:cxnSp>
        <p:nvCxnSpPr>
          <p:cNvPr id="62" name="Elbow Connector 61">
            <a:extLst>
              <a:ext uri="{FF2B5EF4-FFF2-40B4-BE49-F238E27FC236}">
                <a16:creationId xmlns:a16="http://schemas.microsoft.com/office/drawing/2014/main" id="{47F63202-9BF5-A1DC-270B-068BA3CED6E8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1878688" y="2880075"/>
            <a:ext cx="911254" cy="221513"/>
          </a:xfrm>
          <a:prstGeom prst="bentConnector2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5" name="Straight Arrow Connector 1474">
            <a:extLst>
              <a:ext uri="{FF2B5EF4-FFF2-40B4-BE49-F238E27FC236}">
                <a16:creationId xmlns:a16="http://schemas.microsoft.com/office/drawing/2014/main" id="{BBBD3410-0FD2-0A63-9E94-EADF23765443}"/>
              </a:ext>
            </a:extLst>
          </p:cNvPr>
          <p:cNvCxnSpPr>
            <a:cxnSpLocks/>
            <a:stCxn id="1739" idx="3"/>
            <a:endCxn id="3" idx="1"/>
          </p:cNvCxnSpPr>
          <p:nvPr/>
        </p:nvCxnSpPr>
        <p:spPr>
          <a:xfrm flipV="1">
            <a:off x="2225853" y="3512137"/>
            <a:ext cx="219738" cy="3415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2" name="Group 1041">
            <a:extLst>
              <a:ext uri="{FF2B5EF4-FFF2-40B4-BE49-F238E27FC236}">
                <a16:creationId xmlns:a16="http://schemas.microsoft.com/office/drawing/2014/main" id="{2D47F4B3-5F19-1C8D-5DA0-6EB78E2C42C4}"/>
              </a:ext>
            </a:extLst>
          </p:cNvPr>
          <p:cNvGrpSpPr/>
          <p:nvPr/>
        </p:nvGrpSpPr>
        <p:grpSpPr>
          <a:xfrm>
            <a:off x="3644838" y="1708659"/>
            <a:ext cx="2053347" cy="1216800"/>
            <a:chOff x="3946661" y="1642779"/>
            <a:chExt cx="2053347" cy="1216800"/>
          </a:xfrm>
          <a:solidFill>
            <a:schemeClr val="accent1">
              <a:lumMod val="60000"/>
              <a:lumOff val="40000"/>
            </a:schemeClr>
          </a:solidFill>
        </p:grpSpPr>
        <p:sp>
          <p:nvSpPr>
            <p:cNvPr id="1043" name="Rectangle 1042">
              <a:extLst>
                <a:ext uri="{FF2B5EF4-FFF2-40B4-BE49-F238E27FC236}">
                  <a16:creationId xmlns:a16="http://schemas.microsoft.com/office/drawing/2014/main" id="{CFE0035F-FD5C-ADAD-9F0F-5F00C4219F92}"/>
                </a:ext>
              </a:extLst>
            </p:cNvPr>
            <p:cNvSpPr/>
            <p:nvPr/>
          </p:nvSpPr>
          <p:spPr>
            <a:xfrm>
              <a:off x="3946661" y="1642779"/>
              <a:ext cx="2053347" cy="1214732"/>
            </a:xfrm>
            <a:prstGeom prst="rect">
              <a:avLst/>
            </a:prstGeom>
            <a:grp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44" name="Picture 1043">
              <a:extLst>
                <a:ext uri="{FF2B5EF4-FFF2-40B4-BE49-F238E27FC236}">
                  <a16:creationId xmlns:a16="http://schemas.microsoft.com/office/drawing/2014/main" id="{9E18DF16-2268-95EB-28F9-0CB393C954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1121"/>
            <a:stretch>
              <a:fillRect/>
            </a:stretch>
          </p:blipFill>
          <p:spPr>
            <a:xfrm>
              <a:off x="4347507" y="1771195"/>
              <a:ext cx="982521" cy="843324"/>
            </a:xfrm>
            <a:prstGeom prst="rect">
              <a:avLst/>
            </a:prstGeom>
            <a:grpFill/>
            <a:ln w="9525">
              <a:solidFill>
                <a:schemeClr val="bg2">
                  <a:lumMod val="10000"/>
                </a:schemeClr>
              </a:solidFill>
            </a:ln>
          </p:spPr>
        </p:pic>
        <p:pic>
          <p:nvPicPr>
            <p:cNvPr id="1045" name="Picture 1044">
              <a:extLst>
                <a:ext uri="{FF2B5EF4-FFF2-40B4-BE49-F238E27FC236}">
                  <a16:creationId xmlns:a16="http://schemas.microsoft.com/office/drawing/2014/main" id="{F4F67701-E581-9988-40A6-B49B174D7F1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rcRect l="2" r="12391"/>
            <a:stretch>
              <a:fillRect/>
            </a:stretch>
          </p:blipFill>
          <p:spPr>
            <a:xfrm>
              <a:off x="5519762" y="1823103"/>
              <a:ext cx="197842" cy="790399"/>
            </a:xfrm>
            <a:prstGeom prst="rect">
              <a:avLst/>
            </a:prstGeom>
            <a:grpFill/>
            <a:ln w="9525">
              <a:solidFill>
                <a:schemeClr val="bg2">
                  <a:lumMod val="10000"/>
                </a:schemeClr>
              </a:solidFill>
            </a:ln>
          </p:spPr>
        </p:pic>
        <p:sp>
          <p:nvSpPr>
            <p:cNvPr id="1046" name="TextBox 1045">
              <a:extLst>
                <a:ext uri="{FF2B5EF4-FFF2-40B4-BE49-F238E27FC236}">
                  <a16:creationId xmlns:a16="http://schemas.microsoft.com/office/drawing/2014/main" id="{56E5A700-6445-781A-898C-04BB005D23F7}"/>
                </a:ext>
              </a:extLst>
            </p:cNvPr>
            <p:cNvSpPr txBox="1"/>
            <p:nvPr/>
          </p:nvSpPr>
          <p:spPr>
            <a:xfrm>
              <a:off x="4438729" y="2674913"/>
              <a:ext cx="1217000" cy="184666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600" dirty="0"/>
                <a:t>Stochastic Degradation Model</a:t>
              </a:r>
            </a:p>
          </p:txBody>
        </p:sp>
        <p:pic>
          <p:nvPicPr>
            <p:cNvPr id="1047" name="Picture 1046">
              <a:extLst>
                <a:ext uri="{FF2B5EF4-FFF2-40B4-BE49-F238E27FC236}">
                  <a16:creationId xmlns:a16="http://schemas.microsoft.com/office/drawing/2014/main" id="{1CFA7951-0901-F762-133C-35B691BE64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1121"/>
            <a:stretch>
              <a:fillRect/>
            </a:stretch>
          </p:blipFill>
          <p:spPr>
            <a:xfrm>
              <a:off x="4377475" y="1796641"/>
              <a:ext cx="982521" cy="843324"/>
            </a:xfrm>
            <a:prstGeom prst="rect">
              <a:avLst/>
            </a:prstGeom>
            <a:grpFill/>
            <a:ln w="9525">
              <a:solidFill>
                <a:schemeClr val="bg2">
                  <a:lumMod val="10000"/>
                </a:schemeClr>
              </a:solidFill>
            </a:ln>
          </p:spPr>
        </p:pic>
        <p:pic>
          <p:nvPicPr>
            <p:cNvPr id="1048" name="Picture 1047">
              <a:extLst>
                <a:ext uri="{FF2B5EF4-FFF2-40B4-BE49-F238E27FC236}">
                  <a16:creationId xmlns:a16="http://schemas.microsoft.com/office/drawing/2014/main" id="{3785CFD6-733F-20F9-F07E-4DCD5C2B6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rcRect b="1121"/>
            <a:stretch>
              <a:fillRect/>
            </a:stretch>
          </p:blipFill>
          <p:spPr>
            <a:xfrm>
              <a:off x="4410294" y="1828483"/>
              <a:ext cx="982521" cy="843324"/>
            </a:xfrm>
            <a:prstGeom prst="rect">
              <a:avLst/>
            </a:prstGeom>
            <a:grpFill/>
            <a:ln w="9525">
              <a:solidFill>
                <a:schemeClr val="bg2">
                  <a:lumMod val="10000"/>
                </a:schemeClr>
              </a:solidFill>
            </a:ln>
          </p:spPr>
        </p:pic>
      </p:grpSp>
      <p:cxnSp>
        <p:nvCxnSpPr>
          <p:cNvPr id="1051" name="Elbow Connector 1050">
            <a:extLst>
              <a:ext uri="{FF2B5EF4-FFF2-40B4-BE49-F238E27FC236}">
                <a16:creationId xmlns:a16="http://schemas.microsoft.com/office/drawing/2014/main" id="{4DCE4FB8-2539-4B02-A2A6-5EEAF04E6E0E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520659" y="2913599"/>
            <a:ext cx="636955" cy="625819"/>
          </a:xfrm>
          <a:prstGeom prst="bentConnector3">
            <a:avLst>
              <a:gd name="adj1" fmla="val 539"/>
            </a:avLst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9" name="Neural PF Controller">
            <a:extLst>
              <a:ext uri="{FF2B5EF4-FFF2-40B4-BE49-F238E27FC236}">
                <a16:creationId xmlns:a16="http://schemas.microsoft.com/office/drawing/2014/main" id="{8CF55C53-9CBB-3020-2F66-004C7DF43737}"/>
              </a:ext>
            </a:extLst>
          </p:cNvPr>
          <p:cNvSpPr/>
          <p:nvPr/>
        </p:nvSpPr>
        <p:spPr>
          <a:xfrm>
            <a:off x="6616992" y="1888983"/>
            <a:ext cx="1023094" cy="298432"/>
          </a:xfrm>
          <a:prstGeom prst="roundRect">
            <a:avLst/>
          </a:prstGeom>
          <a:solidFill>
            <a:srgbClr val="D6E4F0"/>
          </a:solidFill>
          <a:ln w="15875">
            <a:solidFill>
              <a:srgbClr val="1F6B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tIns="50800" rIns="50800" bIns="25400" rtlCol="0" anchor="t"/>
          <a:lstStyle/>
          <a:p>
            <a:pPr>
              <a:spcAft>
                <a:spcPts val="600"/>
              </a:spcAft>
            </a:pPr>
            <a:r>
              <a:rPr lang="en-US" sz="900" b="1" dirty="0">
                <a:solidFill>
                  <a:srgbClr val="0D375E"/>
                </a:solidFill>
              </a:rPr>
              <a:t>Aggregation</a:t>
            </a:r>
            <a:endParaRPr sz="900" b="1" dirty="0">
              <a:solidFill>
                <a:srgbClr val="0D375E"/>
              </a:solidFill>
            </a:endParaRPr>
          </a:p>
        </p:txBody>
      </p:sp>
      <p:cxnSp>
        <p:nvCxnSpPr>
          <p:cNvPr id="1063" name="Straight Arrow Connector 1062">
            <a:extLst>
              <a:ext uri="{FF2B5EF4-FFF2-40B4-BE49-F238E27FC236}">
                <a16:creationId xmlns:a16="http://schemas.microsoft.com/office/drawing/2014/main" id="{A68340CF-D806-C865-B652-40585E7CA68E}"/>
              </a:ext>
            </a:extLst>
          </p:cNvPr>
          <p:cNvCxnSpPr>
            <a:cxnSpLocks/>
            <a:endCxn id="1059" idx="1"/>
          </p:cNvCxnSpPr>
          <p:nvPr/>
        </p:nvCxnSpPr>
        <p:spPr>
          <a:xfrm>
            <a:off x="5698185" y="2038199"/>
            <a:ext cx="918807" cy="0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7" name="Straight Arrow Connector 1066">
            <a:extLst>
              <a:ext uri="{FF2B5EF4-FFF2-40B4-BE49-F238E27FC236}">
                <a16:creationId xmlns:a16="http://schemas.microsoft.com/office/drawing/2014/main" id="{BBC8C304-AFD0-6A80-7130-9194C4B61EAF}"/>
              </a:ext>
            </a:extLst>
          </p:cNvPr>
          <p:cNvCxnSpPr>
            <a:cxnSpLocks/>
            <a:stCxn id="1059" idx="2"/>
            <a:endCxn id="1717" idx="0"/>
          </p:cNvCxnSpPr>
          <p:nvPr/>
        </p:nvCxnSpPr>
        <p:spPr>
          <a:xfrm>
            <a:off x="7128539" y="2187415"/>
            <a:ext cx="0" cy="413864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0" name="Group 1079">
            <a:extLst>
              <a:ext uri="{FF2B5EF4-FFF2-40B4-BE49-F238E27FC236}">
                <a16:creationId xmlns:a16="http://schemas.microsoft.com/office/drawing/2014/main" id="{A22DC0E3-9C63-391D-4B3E-F760DE3D1321}"/>
              </a:ext>
            </a:extLst>
          </p:cNvPr>
          <p:cNvGrpSpPr/>
          <p:nvPr/>
        </p:nvGrpSpPr>
        <p:grpSpPr>
          <a:xfrm>
            <a:off x="3369847" y="3173001"/>
            <a:ext cx="1154709" cy="623920"/>
            <a:chOff x="4488521" y="2136161"/>
            <a:chExt cx="1112804" cy="600584"/>
          </a:xfrm>
        </p:grpSpPr>
        <p:sp>
          <p:nvSpPr>
            <p:cNvPr id="1081" name="Rectangle 1080">
              <a:extLst>
                <a:ext uri="{FF2B5EF4-FFF2-40B4-BE49-F238E27FC236}">
                  <a16:creationId xmlns:a16="http://schemas.microsoft.com/office/drawing/2014/main" id="{9DDB69BB-A5BA-C59D-DB20-6FD998EE93B3}"/>
                </a:ext>
              </a:extLst>
            </p:cNvPr>
            <p:cNvSpPr/>
            <p:nvPr/>
          </p:nvSpPr>
          <p:spPr>
            <a:xfrm>
              <a:off x="4488521" y="2136161"/>
              <a:ext cx="1112804" cy="6005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82" name="Picture 2" descr="Normal Approximation (w/ 5 Step-by-Step Examples!)">
              <a:extLst>
                <a:ext uri="{FF2B5EF4-FFF2-40B4-BE49-F238E27FC236}">
                  <a16:creationId xmlns:a16="http://schemas.microsoft.com/office/drawing/2014/main" id="{1689F3F8-4C8F-820D-B294-ACF35771845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4" t="5308" r="1707" b="9101"/>
            <a:stretch>
              <a:fillRect/>
            </a:stretch>
          </p:blipFill>
          <p:spPr bwMode="auto">
            <a:xfrm>
              <a:off x="4560102" y="2193452"/>
              <a:ext cx="983556" cy="487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23F6D59A-D969-7AC7-4BFC-AB52D4FEB797}"/>
              </a:ext>
            </a:extLst>
          </p:cNvPr>
          <p:cNvGrpSpPr/>
          <p:nvPr/>
        </p:nvGrpSpPr>
        <p:grpSpPr>
          <a:xfrm>
            <a:off x="3399766" y="3201884"/>
            <a:ext cx="1154709" cy="623920"/>
            <a:chOff x="4488521" y="2136161"/>
            <a:chExt cx="1112804" cy="600584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D178D1C-B91F-1544-36DA-B47CF60BCEB1}"/>
                </a:ext>
              </a:extLst>
            </p:cNvPr>
            <p:cNvSpPr/>
            <p:nvPr/>
          </p:nvSpPr>
          <p:spPr>
            <a:xfrm>
              <a:off x="4488521" y="2136161"/>
              <a:ext cx="1112804" cy="6005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7" name="Picture 2" descr="Normal Approximation (w/ 5 Step-by-Step Examples!)">
              <a:extLst>
                <a:ext uri="{FF2B5EF4-FFF2-40B4-BE49-F238E27FC236}">
                  <a16:creationId xmlns:a16="http://schemas.microsoft.com/office/drawing/2014/main" id="{19B22087-F9A4-D83C-4B8F-4796C26CD5A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4" t="5308" r="1707" b="9101"/>
            <a:stretch>
              <a:fillRect/>
            </a:stretch>
          </p:blipFill>
          <p:spPr bwMode="auto">
            <a:xfrm>
              <a:off x="4560102" y="2193452"/>
              <a:ext cx="983556" cy="487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77" name="Group 1076">
            <a:extLst>
              <a:ext uri="{FF2B5EF4-FFF2-40B4-BE49-F238E27FC236}">
                <a16:creationId xmlns:a16="http://schemas.microsoft.com/office/drawing/2014/main" id="{95F98369-4A33-8598-AE76-32844B4A83BC}"/>
              </a:ext>
            </a:extLst>
          </p:cNvPr>
          <p:cNvGrpSpPr/>
          <p:nvPr/>
        </p:nvGrpSpPr>
        <p:grpSpPr>
          <a:xfrm>
            <a:off x="3429685" y="3230767"/>
            <a:ext cx="1154709" cy="623920"/>
            <a:chOff x="4488521" y="2136161"/>
            <a:chExt cx="1112804" cy="600584"/>
          </a:xfrm>
        </p:grpSpPr>
        <p:sp>
          <p:nvSpPr>
            <p:cNvPr id="1078" name="Rectangle 1077">
              <a:extLst>
                <a:ext uri="{FF2B5EF4-FFF2-40B4-BE49-F238E27FC236}">
                  <a16:creationId xmlns:a16="http://schemas.microsoft.com/office/drawing/2014/main" id="{2116BE7B-DC03-D326-ACC5-3F2CCAE3B422}"/>
                </a:ext>
              </a:extLst>
            </p:cNvPr>
            <p:cNvSpPr/>
            <p:nvPr/>
          </p:nvSpPr>
          <p:spPr>
            <a:xfrm>
              <a:off x="4488521" y="2136161"/>
              <a:ext cx="1112804" cy="60058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79" name="Picture 2" descr="Normal Approximation (w/ 5 Step-by-Step Examples!)">
              <a:extLst>
                <a:ext uri="{FF2B5EF4-FFF2-40B4-BE49-F238E27FC236}">
                  <a16:creationId xmlns:a16="http://schemas.microsoft.com/office/drawing/2014/main" id="{AE17A194-8F9C-3141-A3B3-A2AA470DE6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94" t="5308" r="1707" b="9101"/>
            <a:stretch>
              <a:fillRect/>
            </a:stretch>
          </p:blipFill>
          <p:spPr bwMode="auto">
            <a:xfrm>
              <a:off x="4560102" y="2193452"/>
              <a:ext cx="983556" cy="48768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481" name="Straight Arrow Connector 1480">
            <a:extLst>
              <a:ext uri="{FF2B5EF4-FFF2-40B4-BE49-F238E27FC236}">
                <a16:creationId xmlns:a16="http://schemas.microsoft.com/office/drawing/2014/main" id="{11E43D06-D8F2-5154-932A-65EC162305E5}"/>
              </a:ext>
            </a:extLst>
          </p:cNvPr>
          <p:cNvCxnSpPr>
            <a:cxnSpLocks/>
            <a:stCxn id="3" idx="3"/>
            <a:endCxn id="58" idx="1"/>
          </p:cNvCxnSpPr>
          <p:nvPr/>
        </p:nvCxnSpPr>
        <p:spPr>
          <a:xfrm>
            <a:off x="3134293" y="3512137"/>
            <a:ext cx="265473" cy="1707"/>
          </a:xfrm>
          <a:prstGeom prst="straightConnector1">
            <a:avLst/>
          </a:prstGeom>
          <a:ln>
            <a:solidFill>
              <a:schemeClr val="bg2">
                <a:lumMod val="1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83" name="Group 1082">
            <a:extLst>
              <a:ext uri="{FF2B5EF4-FFF2-40B4-BE49-F238E27FC236}">
                <a16:creationId xmlns:a16="http://schemas.microsoft.com/office/drawing/2014/main" id="{123BFC56-492E-8034-C20E-E359FDEFB560}"/>
              </a:ext>
            </a:extLst>
          </p:cNvPr>
          <p:cNvGrpSpPr/>
          <p:nvPr/>
        </p:nvGrpSpPr>
        <p:grpSpPr>
          <a:xfrm>
            <a:off x="2468935" y="3117952"/>
            <a:ext cx="688702" cy="821098"/>
            <a:chOff x="2718251" y="3240728"/>
            <a:chExt cx="887151" cy="821077"/>
          </a:xfrm>
        </p:grpSpPr>
        <p:sp>
          <p:nvSpPr>
            <p:cNvPr id="1084" name="Neural PF Controller">
              <a:extLst>
                <a:ext uri="{FF2B5EF4-FFF2-40B4-BE49-F238E27FC236}">
                  <a16:creationId xmlns:a16="http://schemas.microsoft.com/office/drawing/2014/main" id="{457AE03F-8777-D95C-7613-CBCEF6976666}"/>
                </a:ext>
              </a:extLst>
            </p:cNvPr>
            <p:cNvSpPr/>
            <p:nvPr/>
          </p:nvSpPr>
          <p:spPr>
            <a:xfrm>
              <a:off x="2718251" y="3240728"/>
              <a:ext cx="887151" cy="821077"/>
            </a:xfrm>
            <a:prstGeom prst="roundRect">
              <a:avLst/>
            </a:prstGeom>
            <a:solidFill>
              <a:srgbClr val="D6E4F0"/>
            </a:solidFill>
            <a:ln w="15875">
              <a:solidFill>
                <a:srgbClr val="1F6B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bIns="25400" rtlCol="0" anchor="t"/>
            <a:lstStyle/>
            <a:p>
              <a:pPr algn="ctr"/>
              <a:r>
                <a:rPr lang="en-US" sz="900" b="1" dirty="0">
                  <a:solidFill>
                    <a:srgbClr val="0D375E"/>
                  </a:solidFill>
                </a:rPr>
                <a:t>Particle Filter</a:t>
              </a:r>
              <a:endParaRPr sz="900" b="1" dirty="0">
                <a:solidFill>
                  <a:srgbClr val="0D375E"/>
                </a:solidFill>
              </a:endParaRPr>
            </a:p>
          </p:txBody>
        </p:sp>
        <p:pic>
          <p:nvPicPr>
            <p:cNvPr id="1085" name="Picture 1084">
              <a:extLst>
                <a:ext uri="{FF2B5EF4-FFF2-40B4-BE49-F238E27FC236}">
                  <a16:creationId xmlns:a16="http://schemas.microsoft.com/office/drawing/2014/main" id="{45E87BF7-66A9-3EAE-4B89-69A93785C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86594" y="3694930"/>
              <a:ext cx="597693" cy="245481"/>
            </a:xfrm>
            <a:prstGeom prst="rect">
              <a:avLst/>
            </a:prstGeom>
          </p:spPr>
        </p:pic>
      </p:grp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5B77A42-4F38-AEC1-4F39-014DDF4073B9}"/>
              </a:ext>
            </a:extLst>
          </p:cNvPr>
          <p:cNvGrpSpPr/>
          <p:nvPr/>
        </p:nvGrpSpPr>
        <p:grpSpPr>
          <a:xfrm>
            <a:off x="2504179" y="3145810"/>
            <a:ext cx="688702" cy="821098"/>
            <a:chOff x="2726209" y="3246906"/>
            <a:chExt cx="887151" cy="821077"/>
          </a:xfrm>
        </p:grpSpPr>
        <p:sp>
          <p:nvSpPr>
            <p:cNvPr id="1087" name="Neural PF Controller">
              <a:extLst>
                <a:ext uri="{FF2B5EF4-FFF2-40B4-BE49-F238E27FC236}">
                  <a16:creationId xmlns:a16="http://schemas.microsoft.com/office/drawing/2014/main" id="{2311EAC3-2B41-9467-A380-D260E0177063}"/>
                </a:ext>
              </a:extLst>
            </p:cNvPr>
            <p:cNvSpPr/>
            <p:nvPr/>
          </p:nvSpPr>
          <p:spPr>
            <a:xfrm>
              <a:off x="2726209" y="3246906"/>
              <a:ext cx="887151" cy="821077"/>
            </a:xfrm>
            <a:prstGeom prst="roundRect">
              <a:avLst/>
            </a:prstGeom>
            <a:solidFill>
              <a:srgbClr val="D6E4F0"/>
            </a:solidFill>
            <a:ln w="15875">
              <a:solidFill>
                <a:srgbClr val="1F6B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bIns="25400" rtlCol="0" anchor="t"/>
            <a:lstStyle/>
            <a:p>
              <a:pPr algn="ctr"/>
              <a:r>
                <a:rPr lang="en-US" sz="900" b="1" dirty="0">
                  <a:solidFill>
                    <a:srgbClr val="0D375E"/>
                  </a:solidFill>
                </a:rPr>
                <a:t>Particle Filter</a:t>
              </a:r>
              <a:endParaRPr sz="900" b="1" dirty="0">
                <a:solidFill>
                  <a:srgbClr val="0D375E"/>
                </a:solidFill>
              </a:endParaRPr>
            </a:p>
          </p:txBody>
        </p:sp>
        <p:pic>
          <p:nvPicPr>
            <p:cNvPr id="1682" name="Picture 1681">
              <a:extLst>
                <a:ext uri="{FF2B5EF4-FFF2-40B4-BE49-F238E27FC236}">
                  <a16:creationId xmlns:a16="http://schemas.microsoft.com/office/drawing/2014/main" id="{F6297E81-20BE-12C1-F90B-889613A5183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86594" y="3694930"/>
              <a:ext cx="597693" cy="245481"/>
            </a:xfrm>
            <a:prstGeom prst="rect">
              <a:avLst/>
            </a:prstGeom>
          </p:spPr>
        </p:pic>
      </p:grpSp>
      <p:grpSp>
        <p:nvGrpSpPr>
          <p:cNvPr id="1715" name="Group 1714">
            <a:extLst>
              <a:ext uri="{FF2B5EF4-FFF2-40B4-BE49-F238E27FC236}">
                <a16:creationId xmlns:a16="http://schemas.microsoft.com/office/drawing/2014/main" id="{DE47FA0A-10EA-AB3E-162B-5950C62FD839}"/>
              </a:ext>
            </a:extLst>
          </p:cNvPr>
          <p:cNvGrpSpPr/>
          <p:nvPr/>
        </p:nvGrpSpPr>
        <p:grpSpPr>
          <a:xfrm>
            <a:off x="1536600" y="3122198"/>
            <a:ext cx="719172" cy="829635"/>
            <a:chOff x="1642534" y="3382993"/>
            <a:chExt cx="809417" cy="811462"/>
          </a:xfrm>
        </p:grpSpPr>
        <p:sp>
          <p:nvSpPr>
            <p:cNvPr id="1727" name="Neural PF Controller">
              <a:extLst>
                <a:ext uri="{FF2B5EF4-FFF2-40B4-BE49-F238E27FC236}">
                  <a16:creationId xmlns:a16="http://schemas.microsoft.com/office/drawing/2014/main" id="{075FF012-69A0-C825-DF31-023205188EE0}"/>
                </a:ext>
              </a:extLst>
            </p:cNvPr>
            <p:cNvSpPr/>
            <p:nvPr/>
          </p:nvSpPr>
          <p:spPr>
            <a:xfrm>
              <a:off x="1642534" y="3382993"/>
              <a:ext cx="809417" cy="811462"/>
            </a:xfrm>
            <a:prstGeom prst="roundRect">
              <a:avLst/>
            </a:prstGeom>
            <a:solidFill>
              <a:srgbClr val="D6E4F0"/>
            </a:solidFill>
            <a:ln w="15875">
              <a:solidFill>
                <a:srgbClr val="1F6B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bIns="25400" rtlCol="0" anchor="t"/>
            <a:lstStyle/>
            <a:p>
              <a:pPr algn="ctr"/>
              <a:r>
                <a:rPr sz="900" b="1" dirty="0">
                  <a:solidFill>
                    <a:srgbClr val="0D375E"/>
                  </a:solidFill>
                </a:rPr>
                <a:t>Neural PF </a:t>
              </a:r>
              <a:endParaRPr lang="en-US" sz="900" b="1" dirty="0">
                <a:solidFill>
                  <a:srgbClr val="0D375E"/>
                </a:solidFill>
              </a:endParaRPr>
            </a:p>
            <a:p>
              <a:pPr algn="ctr"/>
              <a:r>
                <a:rPr sz="900" b="1" dirty="0">
                  <a:solidFill>
                    <a:srgbClr val="0D375E"/>
                  </a:solidFill>
                </a:rPr>
                <a:t>Controller</a:t>
              </a:r>
              <a:r>
                <a:rPr lang="en-US" sz="900" b="1" dirty="0">
                  <a:solidFill>
                    <a:srgbClr val="0D375E"/>
                  </a:solidFill>
                </a:rPr>
                <a:t> </a:t>
              </a:r>
            </a:p>
          </p:txBody>
        </p:sp>
        <p:pic>
          <p:nvPicPr>
            <p:cNvPr id="1735" name="Picture 14">
              <a:extLst>
                <a:ext uri="{FF2B5EF4-FFF2-40B4-BE49-F238E27FC236}">
                  <a16:creationId xmlns:a16="http://schemas.microsoft.com/office/drawing/2014/main" id="{F1B9722E-639C-11C7-0947-73FC36D5631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41" t="15136" r="12145" b="14096"/>
            <a:stretch>
              <a:fillRect/>
            </a:stretch>
          </p:blipFill>
          <p:spPr bwMode="auto">
            <a:xfrm>
              <a:off x="1879470" y="3817513"/>
              <a:ext cx="319695" cy="293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737" name="Group 1736">
            <a:extLst>
              <a:ext uri="{FF2B5EF4-FFF2-40B4-BE49-F238E27FC236}">
                <a16:creationId xmlns:a16="http://schemas.microsoft.com/office/drawing/2014/main" id="{DDB76DB7-CE1B-DAE8-C8D2-FCEB270B42D2}"/>
              </a:ext>
            </a:extLst>
          </p:cNvPr>
          <p:cNvGrpSpPr/>
          <p:nvPr/>
        </p:nvGrpSpPr>
        <p:grpSpPr>
          <a:xfrm>
            <a:off x="1565033" y="3144956"/>
            <a:ext cx="719172" cy="829635"/>
            <a:chOff x="1642534" y="3382993"/>
            <a:chExt cx="809417" cy="811462"/>
          </a:xfrm>
        </p:grpSpPr>
        <p:sp>
          <p:nvSpPr>
            <p:cNvPr id="1742" name="Neural PF Controller">
              <a:extLst>
                <a:ext uri="{FF2B5EF4-FFF2-40B4-BE49-F238E27FC236}">
                  <a16:creationId xmlns:a16="http://schemas.microsoft.com/office/drawing/2014/main" id="{D95E75AD-F465-BA7D-A875-37A769762C20}"/>
                </a:ext>
              </a:extLst>
            </p:cNvPr>
            <p:cNvSpPr/>
            <p:nvPr/>
          </p:nvSpPr>
          <p:spPr>
            <a:xfrm>
              <a:off x="1642534" y="3382993"/>
              <a:ext cx="809417" cy="811462"/>
            </a:xfrm>
            <a:prstGeom prst="roundRect">
              <a:avLst/>
            </a:prstGeom>
            <a:solidFill>
              <a:srgbClr val="D6E4F0"/>
            </a:solidFill>
            <a:ln w="15875">
              <a:solidFill>
                <a:srgbClr val="1F6BB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0800" tIns="50800" rIns="50800" bIns="25400" rtlCol="0" anchor="t"/>
            <a:lstStyle/>
            <a:p>
              <a:pPr algn="ctr"/>
              <a:r>
                <a:rPr sz="900" b="1" dirty="0">
                  <a:solidFill>
                    <a:srgbClr val="0D375E"/>
                  </a:solidFill>
                </a:rPr>
                <a:t>Neural PF </a:t>
              </a:r>
              <a:endParaRPr lang="en-US" sz="900" b="1" dirty="0">
                <a:solidFill>
                  <a:srgbClr val="0D375E"/>
                </a:solidFill>
              </a:endParaRPr>
            </a:p>
            <a:p>
              <a:pPr algn="ctr"/>
              <a:r>
                <a:rPr sz="900" b="1" dirty="0">
                  <a:solidFill>
                    <a:srgbClr val="0D375E"/>
                  </a:solidFill>
                </a:rPr>
                <a:t>Controller</a:t>
              </a:r>
              <a:r>
                <a:rPr lang="en-US" sz="900" b="1" dirty="0">
                  <a:solidFill>
                    <a:srgbClr val="0D375E"/>
                  </a:solidFill>
                </a:rPr>
                <a:t> </a:t>
              </a:r>
            </a:p>
          </p:txBody>
        </p:sp>
        <p:pic>
          <p:nvPicPr>
            <p:cNvPr id="1743" name="Picture 14">
              <a:extLst>
                <a:ext uri="{FF2B5EF4-FFF2-40B4-BE49-F238E27FC236}">
                  <a16:creationId xmlns:a16="http://schemas.microsoft.com/office/drawing/2014/main" id="{2B655563-CA48-288D-FFBE-1F180CD307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641" t="15136" r="12145" b="14096"/>
            <a:stretch>
              <a:fillRect/>
            </a:stretch>
          </p:blipFill>
          <p:spPr bwMode="auto">
            <a:xfrm>
              <a:off x="1896766" y="3809997"/>
              <a:ext cx="319695" cy="293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96976BA-514B-C294-57DD-4582A43CA269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0218" y="1955679"/>
            <a:ext cx="178383" cy="16504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090728"/>
      </p:ext>
    </p:extLst>
  </p:cSld>
  <p:clrMapOvr>
    <a:masterClrMapping/>
  </p:clrMapOvr>
</p:sld>
</file>

<file path=ppt/theme/theme1.xml><?xml version="1.0" encoding="utf-8"?>
<a:theme xmlns:a="http://schemas.openxmlformats.org/drawingml/2006/main" name="Elsevier">
  <a:themeElements>
    <a:clrScheme name="Custom 1">
      <a:dk1>
        <a:srgbClr val="53565A"/>
      </a:dk1>
      <a:lt1>
        <a:srgbClr val="FFFFFF"/>
      </a:lt1>
      <a:dk2>
        <a:srgbClr val="FF6C00"/>
      </a:dk2>
      <a:lt2>
        <a:srgbClr val="E7E6E6"/>
      </a:lt2>
      <a:accent1>
        <a:srgbClr val="3678DF"/>
      </a:accent1>
      <a:accent2>
        <a:srgbClr val="FF6C00"/>
      </a:accent2>
      <a:accent3>
        <a:srgbClr val="FCD300"/>
      </a:accent3>
      <a:accent4>
        <a:srgbClr val="F73D28"/>
      </a:accent4>
      <a:accent5>
        <a:srgbClr val="8ED600"/>
      </a:accent5>
      <a:accent6>
        <a:srgbClr val="661CC9"/>
      </a:accent6>
      <a:hlink>
        <a:srgbClr val="0563C1"/>
      </a:hlink>
      <a:folHlink>
        <a:srgbClr val="FF6C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Dark grey">
      <a:srgbClr val="53565A"/>
    </a:custClr>
    <a:custClr name="Orange">
      <a:srgbClr val="FF6C00"/>
    </a:custClr>
    <a:custClr name="Grey footer">
      <a:srgbClr val="A7A8AA"/>
    </a:custClr>
  </a:custClrLst>
  <a:extLst>
    <a:ext uri="{05A4C25C-085E-4340-85A3-A5531E510DB2}">
      <thm15:themeFamily xmlns:thm15="http://schemas.microsoft.com/office/thememl/2012/main" name="ELS_ppt-presentation_Arial 16_9 new.potx" id="{D40443C0-16AF-4A5D-8290-255DEE5F8301}" vid="{38A45B1D-F117-4F8B-9F78-F1219F5478A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03F462C81B4CA4089CDB375C6F04451" ma:contentTypeVersion="13" ma:contentTypeDescription="Create a new document." ma:contentTypeScope="" ma:versionID="4eee17a48324ef3a8839ded83eb7de38">
  <xsd:schema xmlns:xsd="http://www.w3.org/2001/XMLSchema" xmlns:xs="http://www.w3.org/2001/XMLSchema" xmlns:p="http://schemas.microsoft.com/office/2006/metadata/properties" xmlns:ns3="bcd1ee4d-0a03-4459-8227-1729d7e061bd" xmlns:ns4="69a629a4-d0d4-49a2-bb4f-4472faa1e085" targetNamespace="http://schemas.microsoft.com/office/2006/metadata/properties" ma:root="true" ma:fieldsID="e7a6086a60396f1d785e83d39353bd74" ns3:_="" ns4:_="">
    <xsd:import namespace="bcd1ee4d-0a03-4459-8227-1729d7e061bd"/>
    <xsd:import namespace="69a629a4-d0d4-49a2-bb4f-4472faa1e0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d1ee4d-0a03-4459-8227-1729d7e061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629a4-d0d4-49a2-bb4f-4472faa1e085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92590EA-0C5B-4498-8275-4BA46B0A58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52E5B6-66F6-4CFC-8201-64FEC47FE63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cd1ee4d-0a03-4459-8227-1729d7e061bd"/>
    <ds:schemaRef ds:uri="69a629a4-d0d4-49a2-bb4f-4472faa1e0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A7137FC-9D71-44E6-A5E9-F8E9B717AA1D}">
  <ds:schemaRefs>
    <ds:schemaRef ds:uri="http://purl.org/dc/elements/1.1/"/>
    <ds:schemaRef ds:uri="http://schemas.microsoft.com/office/2006/metadata/properties"/>
    <ds:schemaRef ds:uri="bcd1ee4d-0a03-4459-8227-1729d7e061bd"/>
    <ds:schemaRef ds:uri="69a629a4-d0d4-49a2-bb4f-4472faa1e085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ELS_ppt-presentation_Arial 16_9 new colorscheme</Template>
  <TotalTime>0</TotalTime>
  <Words>74</Words>
  <Application>Microsoft Macintosh PowerPoint</Application>
  <PresentationFormat>On-screen Show (16:9)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Courier New</vt:lpstr>
      <vt:lpstr>Elsevier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cp:lastPrinted>2018-07-23T12:36:44Z</cp:lastPrinted>
  <dcterms:created xsi:type="dcterms:W3CDTF">2018-05-29T20:11:58Z</dcterms:created>
  <dcterms:modified xsi:type="dcterms:W3CDTF">2026-05-10T03:47:36Z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49ac42a-3eb4-4074-b885-aea26bd6241e_Enabled">
    <vt:lpwstr>true</vt:lpwstr>
  </property>
  <property fmtid="{D5CDD505-2E9C-101B-9397-08002B2CF9AE}" pid="3" name="MSIP_Label_549ac42a-3eb4-4074-b885-aea26bd6241e_SetDate">
    <vt:lpwstr>2021-03-25T14:17:05Z</vt:lpwstr>
  </property>
  <property fmtid="{D5CDD505-2E9C-101B-9397-08002B2CF9AE}" pid="4" name="MSIP_Label_549ac42a-3eb4-4074-b885-aea26bd6241e_Method">
    <vt:lpwstr>Standard</vt:lpwstr>
  </property>
  <property fmtid="{D5CDD505-2E9C-101B-9397-08002B2CF9AE}" pid="5" name="MSIP_Label_549ac42a-3eb4-4074-b885-aea26bd6241e_Name">
    <vt:lpwstr>General Business</vt:lpwstr>
  </property>
  <property fmtid="{D5CDD505-2E9C-101B-9397-08002B2CF9AE}" pid="6" name="MSIP_Label_549ac42a-3eb4-4074-b885-aea26bd6241e_SiteId">
    <vt:lpwstr>9274ee3f-9425-4109-a27f-9fb15c10675d</vt:lpwstr>
  </property>
  <property fmtid="{D5CDD505-2E9C-101B-9397-08002B2CF9AE}" pid="7" name="MSIP_Label_549ac42a-3eb4-4074-b885-aea26bd6241e_ActionId">
    <vt:lpwstr>bf2387a5-b0f2-4910-8ffa-977b1bf672cb</vt:lpwstr>
  </property>
  <property fmtid="{D5CDD505-2E9C-101B-9397-08002B2CF9AE}" pid="8" name="MSIP_Label_549ac42a-3eb4-4074-b885-aea26bd6241e_ContentBits">
    <vt:lpwstr>0</vt:lpwstr>
  </property>
  <property fmtid="{D5CDD505-2E9C-101B-9397-08002B2CF9AE}" pid="9" name="ContentTypeId">
    <vt:lpwstr>0x010100103F462C81B4CA4089CDB375C6F04451</vt:lpwstr>
  </property>
</Properties>
</file>