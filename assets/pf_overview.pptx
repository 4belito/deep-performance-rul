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44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89CD07-4319-6ABF-FCA2-709A48D1265C}" name="Diaz Gonzalez, Abel" initials="AD" userId="S::abel.diaz.gonzalez@vanderbilt.edu::35d0b763-d6c0-48e6-9203-92eb85478cb6" providerId="AD"/>
  <p188:author id="{B62295ED-20F8-769B-3464-A268E377FDCB}" name="Quinones Grueiro, Marcos" initials="MQ" userId="S::marcos.quinones.grueiro@vanderbilt.edu::536cb631-8b62-4de7-ba32-edf7a1ad6d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F17"/>
    <a:srgbClr val="C3A689"/>
    <a:srgbClr val="A7825C"/>
    <a:srgbClr val="967146"/>
    <a:srgbClr val="564534"/>
    <a:srgbClr val="5E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70" autoAdjust="0"/>
    <p:restoredTop sz="86429"/>
  </p:normalViewPr>
  <p:slideViewPr>
    <p:cSldViewPr snapToGrid="0">
      <p:cViewPr varScale="1">
        <p:scale>
          <a:sx n="104" d="100"/>
          <a:sy n="104" d="100"/>
        </p:scale>
        <p:origin x="176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09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859D8-B66A-47F9-B914-23B1751CA91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4BD73-FC65-4FE7-9E21-0975921F3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2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268A-BE85-B881-888C-DC9DA622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8737-DCAB-D2B9-FFA9-D4D84E320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B941-F48C-A988-1CDD-DBEC4B60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FE392-8A12-70A2-8006-B73AC44A9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4BD73-FC65-4FE7-9E21-0975921F30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25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4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8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6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5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8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9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7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6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6AD91-4B23-4744-80DD-8D3955A9F32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8079-EB80-CF7D-B36A-149C4865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719">
            <a:extLst>
              <a:ext uri="{FF2B5EF4-FFF2-40B4-BE49-F238E27FC236}">
                <a16:creationId xmlns:a16="http://schemas.microsoft.com/office/drawing/2014/main" id="{D6660E8E-023F-C3F1-1F68-C91D2D7C4A0E}"/>
              </a:ext>
            </a:extLst>
          </p:cNvPr>
          <p:cNvSpPr/>
          <p:nvPr/>
        </p:nvSpPr>
        <p:spPr>
          <a:xfrm>
            <a:off x="6591018" y="826310"/>
            <a:ext cx="5126182" cy="3902921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sz="3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BB684EF9-2952-FFE9-8AD1-F9FB33F6A09A}"/>
                  </a:ext>
                </a:extLst>
              </p:cNvPr>
              <p:cNvSpPr/>
              <p:nvPr/>
            </p:nvSpPr>
            <p:spPr>
              <a:xfrm>
                <a:off x="6745379" y="3338462"/>
                <a:ext cx="4817456" cy="10264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𝑅𝑈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ℓ </m:t>
                    </m:r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- confidence interval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 dirty="0" err="1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computation</a:t>
                </a:r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𝑅𝑈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ℓ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BB684EF9-2952-FFE9-8AD1-F9FB33F6A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379" y="3338462"/>
                <a:ext cx="4817456" cy="1026407"/>
              </a:xfrm>
              <a:prstGeom prst="rect">
                <a:avLst/>
              </a:prstGeom>
              <a:blipFill>
                <a:blip r:embed="rId3"/>
                <a:stretch>
                  <a:fillRect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F33DF0-D3A3-3C29-7C79-907EC99FEAB8}"/>
                  </a:ext>
                </a:extLst>
              </p:cNvPr>
              <p:cNvSpPr txBox="1"/>
              <p:nvPr/>
            </p:nvSpPr>
            <p:spPr>
              <a:xfrm>
                <a:off x="235996" y="2129983"/>
                <a:ext cx="5572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F33DF0-D3A3-3C29-7C79-907EC99FE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96" y="2129983"/>
                <a:ext cx="557202" cy="307777"/>
              </a:xfrm>
              <a:prstGeom prst="rect">
                <a:avLst/>
              </a:prstGeom>
              <a:blipFill>
                <a:blip r:embed="rId4"/>
                <a:stretch>
                  <a:fillRect r="-2666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160 Rectángulo">
            <a:extLst>
              <a:ext uri="{FF2B5EF4-FFF2-40B4-BE49-F238E27FC236}">
                <a16:creationId xmlns:a16="http://schemas.microsoft.com/office/drawing/2014/main" id="{C200B6A8-9A85-6201-3C5B-4919BE69CCB6}"/>
              </a:ext>
            </a:extLst>
          </p:cNvPr>
          <p:cNvSpPr/>
          <p:nvPr/>
        </p:nvSpPr>
        <p:spPr>
          <a:xfrm>
            <a:off x="2350075" y="305770"/>
            <a:ext cx="1862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EOL Particle Filter</a:t>
            </a:r>
          </a:p>
        </p:txBody>
      </p:sp>
      <p:sp>
        <p:nvSpPr>
          <p:cNvPr id="32" name="Rectángulo 719">
            <a:extLst>
              <a:ext uri="{FF2B5EF4-FFF2-40B4-BE49-F238E27FC236}">
                <a16:creationId xmlns:a16="http://schemas.microsoft.com/office/drawing/2014/main" id="{B44B664C-F55D-C64F-40D8-9C8C5E66609D}"/>
              </a:ext>
            </a:extLst>
          </p:cNvPr>
          <p:cNvSpPr/>
          <p:nvPr/>
        </p:nvSpPr>
        <p:spPr>
          <a:xfrm>
            <a:off x="1358172" y="831929"/>
            <a:ext cx="3892467" cy="3902921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sz="3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ángulo 719">
                <a:extLst>
                  <a:ext uri="{FF2B5EF4-FFF2-40B4-BE49-F238E27FC236}">
                    <a16:creationId xmlns:a16="http://schemas.microsoft.com/office/drawing/2014/main" id="{82146088-1A3A-BAC8-A560-1CB1ED7A494F}"/>
                  </a:ext>
                </a:extLst>
              </p:cNvPr>
              <p:cNvSpPr/>
              <p:nvPr/>
            </p:nvSpPr>
            <p:spPr>
              <a:xfrm>
                <a:off x="1754355" y="1138898"/>
                <a:ext cx="2632496" cy="7061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Propagation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l-GR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ángulo 719">
                <a:extLst>
                  <a:ext uri="{FF2B5EF4-FFF2-40B4-BE49-F238E27FC236}">
                    <a16:creationId xmlns:a16="http://schemas.microsoft.com/office/drawing/2014/main" id="{82146088-1A3A-BAC8-A560-1CB1ED7A4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355" y="1138898"/>
                <a:ext cx="2632496" cy="706188"/>
              </a:xfrm>
              <a:prstGeom prst="rect">
                <a:avLst/>
              </a:prstGeom>
              <a:blipFill>
                <a:blip r:embed="rId5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ángulo 719">
                <a:extLst>
                  <a:ext uri="{FF2B5EF4-FFF2-40B4-BE49-F238E27FC236}">
                    <a16:creationId xmlns:a16="http://schemas.microsoft.com/office/drawing/2014/main" id="{B0C5784A-CB90-CC48-CEA7-BA59F5753571}"/>
                  </a:ext>
                </a:extLst>
              </p:cNvPr>
              <p:cNvSpPr/>
              <p:nvPr/>
            </p:nvSpPr>
            <p:spPr>
              <a:xfrm>
                <a:off x="1537240" y="2140038"/>
                <a:ext cx="3084924" cy="7061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Tempered Correction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sSup>
                        <m:s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sSubSup>
                                <m:sSubSup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Rectángulo 719">
                <a:extLst>
                  <a:ext uri="{FF2B5EF4-FFF2-40B4-BE49-F238E27FC236}">
                    <a16:creationId xmlns:a16="http://schemas.microsoft.com/office/drawing/2014/main" id="{B0C5784A-CB90-CC48-CEA7-BA59F57535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40" y="2140038"/>
                <a:ext cx="3084924" cy="706188"/>
              </a:xfrm>
              <a:prstGeom prst="rect">
                <a:avLst/>
              </a:prstGeom>
              <a:blipFill>
                <a:blip r:embed="rId6"/>
                <a:stretch>
                  <a:fillRect t="-5263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ángulo 719">
                <a:extLst>
                  <a:ext uri="{FF2B5EF4-FFF2-40B4-BE49-F238E27FC236}">
                    <a16:creationId xmlns:a16="http://schemas.microsoft.com/office/drawing/2014/main" id="{138A7EAD-4E82-5A3B-2B26-DE54E83203E9}"/>
                  </a:ext>
                </a:extLst>
              </p:cNvPr>
              <p:cNvSpPr/>
              <p:nvPr/>
            </p:nvSpPr>
            <p:spPr>
              <a:xfrm>
                <a:off x="1995472" y="3249250"/>
                <a:ext cx="2168464" cy="10374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Resampling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 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ángulo 719">
                <a:extLst>
                  <a:ext uri="{FF2B5EF4-FFF2-40B4-BE49-F238E27FC236}">
                    <a16:creationId xmlns:a16="http://schemas.microsoft.com/office/drawing/2014/main" id="{138A7EAD-4E82-5A3B-2B26-DE54E8320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72" y="3249250"/>
                <a:ext cx="2168464" cy="1037495"/>
              </a:xfrm>
              <a:prstGeom prst="rect">
                <a:avLst/>
              </a:prstGeom>
              <a:blipFill>
                <a:blip r:embed="rId7"/>
                <a:stretch>
                  <a:fillRect t="-46988" b="-115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582">
            <a:extLst>
              <a:ext uri="{FF2B5EF4-FFF2-40B4-BE49-F238E27FC236}">
                <a16:creationId xmlns:a16="http://schemas.microsoft.com/office/drawing/2014/main" id="{0190F104-0CB6-4F8F-06F1-EC2F7604799C}"/>
              </a:ext>
            </a:extLst>
          </p:cNvPr>
          <p:cNvCxnSpPr>
            <a:cxnSpLocks/>
            <a:stCxn id="75" idx="2"/>
            <a:endCxn id="89" idx="0"/>
          </p:cNvCxnSpPr>
          <p:nvPr/>
        </p:nvCxnSpPr>
        <p:spPr>
          <a:xfrm>
            <a:off x="3079702" y="2846226"/>
            <a:ext cx="2" cy="403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DD422CF8-DE9C-C884-CACE-1F847ABE3BC7}"/>
              </a:ext>
            </a:extLst>
          </p:cNvPr>
          <p:cNvCxnSpPr>
            <a:cxnSpLocks/>
            <a:stCxn id="89" idx="3"/>
            <a:endCxn id="58" idx="3"/>
          </p:cNvCxnSpPr>
          <p:nvPr/>
        </p:nvCxnSpPr>
        <p:spPr>
          <a:xfrm flipV="1">
            <a:off x="4163936" y="1491992"/>
            <a:ext cx="222915" cy="2276006"/>
          </a:xfrm>
          <a:prstGeom prst="bentConnector3">
            <a:avLst>
              <a:gd name="adj1" fmla="val 30199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ángulo 719">
                <a:extLst>
                  <a:ext uri="{FF2B5EF4-FFF2-40B4-BE49-F238E27FC236}">
                    <a16:creationId xmlns:a16="http://schemas.microsoft.com/office/drawing/2014/main" id="{7AA68EBB-0C2B-C112-A062-1E295F55F948}"/>
                  </a:ext>
                </a:extLst>
              </p:cNvPr>
              <p:cNvSpPr/>
              <p:nvPr/>
            </p:nvSpPr>
            <p:spPr>
              <a:xfrm>
                <a:off x="6954335" y="973604"/>
                <a:ext cx="4399547" cy="184763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Predictive EOL Distribution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𝐸𝑂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Rectángulo 719">
                <a:extLst>
                  <a:ext uri="{FF2B5EF4-FFF2-40B4-BE49-F238E27FC236}">
                    <a16:creationId xmlns:a16="http://schemas.microsoft.com/office/drawing/2014/main" id="{7AA68EBB-0C2B-C112-A062-1E295F55F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335" y="973604"/>
                <a:ext cx="4399547" cy="1847634"/>
              </a:xfrm>
              <a:prstGeom prst="rect">
                <a:avLst/>
              </a:prstGeom>
              <a:blipFill>
                <a:blip r:embed="rId8"/>
                <a:stretch>
                  <a:fillRect t="-23810" b="-6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0D78E3F-E0D5-19D1-4772-A8B4BD2A22D3}"/>
                  </a:ext>
                </a:extLst>
              </p:cNvPr>
              <p:cNvSpPr txBox="1"/>
              <p:nvPr/>
            </p:nvSpPr>
            <p:spPr>
              <a:xfrm>
                <a:off x="4163936" y="3816992"/>
                <a:ext cx="879514" cy="43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0D78E3F-E0D5-19D1-4772-A8B4BD2A2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936" y="3816992"/>
                <a:ext cx="879514" cy="4374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5CACAE7-5DD6-D446-EDE9-63D161977D64}"/>
                  </a:ext>
                </a:extLst>
              </p:cNvPr>
              <p:cNvSpPr txBox="1"/>
              <p:nvPr/>
            </p:nvSpPr>
            <p:spPr>
              <a:xfrm>
                <a:off x="4413648" y="1033230"/>
                <a:ext cx="879514" cy="43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5CACAE7-5DD6-D446-EDE9-63D161977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648" y="1033230"/>
                <a:ext cx="879514" cy="4374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E5AE225-5DFA-E452-E0E7-9E22357C4178}"/>
                  </a:ext>
                </a:extLst>
              </p:cNvPr>
              <p:cNvSpPr/>
              <p:nvPr/>
            </p:nvSpPr>
            <p:spPr>
              <a:xfrm>
                <a:off x="2854245" y="5502908"/>
                <a:ext cx="6483510" cy="9038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44450" cap="rnd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>
                    <a:solidFill>
                      <a:prstClr val="black"/>
                    </a:solidFill>
                  </a:rPr>
                  <a:t>: Number of particles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1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d>
                      <m:dPr>
                        <m:ctrlP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sz="14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and</a:t>
                </a:r>
                <a:r>
                  <a:rPr lang="en-US" sz="12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d>
                      <m:dPr>
                        <m:ctrlP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sz="1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are learned during training using offline data</a:t>
                </a:r>
              </a:p>
            </p:txBody>
          </p:sp>
        </mc:Choice>
        <mc:Fallback xmlns="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E5AE225-5DFA-E452-E0E7-9E22357C4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245" y="5502908"/>
                <a:ext cx="6483510" cy="9038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44450" cap="rnd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Connector: Elbow 15">
            <a:extLst>
              <a:ext uri="{FF2B5EF4-FFF2-40B4-BE49-F238E27FC236}">
                <a16:creationId xmlns:a16="http://schemas.microsoft.com/office/drawing/2014/main" id="{0A5C063B-8681-BF18-0F33-9B2BAE5EB245}"/>
              </a:ext>
            </a:extLst>
          </p:cNvPr>
          <p:cNvCxnSpPr>
            <a:cxnSpLocks/>
            <a:stCxn id="75" idx="3"/>
            <a:endCxn id="116" idx="1"/>
          </p:cNvCxnSpPr>
          <p:nvPr/>
        </p:nvCxnSpPr>
        <p:spPr>
          <a:xfrm flipV="1">
            <a:off x="4622164" y="1897421"/>
            <a:ext cx="2332171" cy="595711"/>
          </a:xfrm>
          <a:prstGeom prst="bentConnector3">
            <a:avLst>
              <a:gd name="adj1" fmla="val 519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8EAB311-0998-4D60-9444-682B38FA7C9C}"/>
              </a:ext>
            </a:extLst>
          </p:cNvPr>
          <p:cNvCxnSpPr>
            <a:cxnSpLocks/>
          </p:cNvCxnSpPr>
          <p:nvPr/>
        </p:nvCxnSpPr>
        <p:spPr>
          <a:xfrm flipV="1">
            <a:off x="283997" y="1500542"/>
            <a:ext cx="1464022" cy="9850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582">
            <a:extLst>
              <a:ext uri="{FF2B5EF4-FFF2-40B4-BE49-F238E27FC236}">
                <a16:creationId xmlns:a16="http://schemas.microsoft.com/office/drawing/2014/main" id="{6E810BC3-66B3-F66F-581B-85419F0BD5C5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80916" y="2485570"/>
            <a:ext cx="1256324" cy="7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582">
            <a:extLst>
              <a:ext uri="{FF2B5EF4-FFF2-40B4-BE49-F238E27FC236}">
                <a16:creationId xmlns:a16="http://schemas.microsoft.com/office/drawing/2014/main" id="{E5314172-9F28-1B83-E383-5B19893B42E4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070603" y="1845086"/>
            <a:ext cx="9099" cy="294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582">
            <a:extLst>
              <a:ext uri="{FF2B5EF4-FFF2-40B4-BE49-F238E27FC236}">
                <a16:creationId xmlns:a16="http://schemas.microsoft.com/office/drawing/2014/main" id="{FC160D0E-65B7-B65C-4F61-595F464E491F}"/>
              </a:ext>
            </a:extLst>
          </p:cNvPr>
          <p:cNvCxnSpPr>
            <a:cxnSpLocks/>
            <a:stCxn id="116" idx="2"/>
            <a:endCxn id="18" idx="0"/>
          </p:cNvCxnSpPr>
          <p:nvPr/>
        </p:nvCxnSpPr>
        <p:spPr>
          <a:xfrm flipH="1">
            <a:off x="9154107" y="2821238"/>
            <a:ext cx="2" cy="517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60 Rectángulo">
            <a:extLst>
              <a:ext uri="{FF2B5EF4-FFF2-40B4-BE49-F238E27FC236}">
                <a16:creationId xmlns:a16="http://schemas.microsoft.com/office/drawing/2014/main" id="{6C494B3A-5DDA-2012-725E-32AF2E6B8E45}"/>
              </a:ext>
            </a:extLst>
          </p:cNvPr>
          <p:cNvSpPr/>
          <p:nvPr/>
        </p:nvSpPr>
        <p:spPr>
          <a:xfrm>
            <a:off x="8329683" y="277230"/>
            <a:ext cx="1648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RUL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359FC-0EBE-DA01-C687-1F91C3A74601}"/>
                  </a:ext>
                </a:extLst>
              </p:cNvPr>
              <p:cNvSpPr txBox="1"/>
              <p:nvPr/>
            </p:nvSpPr>
            <p:spPr>
              <a:xfrm>
                <a:off x="5300527" y="1451444"/>
                <a:ext cx="1240603" cy="54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05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050" b="0" dirty="0">
                  <a:solidFill>
                    <a:schemeClr val="tx1"/>
                  </a:solidFill>
                </a:endParaRPr>
              </a:p>
              <a:p>
                <a:endParaRPr 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359FC-0EBE-DA01-C687-1F91C3A7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527" y="1451444"/>
                <a:ext cx="1240603" cy="5497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2595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31301</TotalTime>
  <Words>102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Cambria Math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Diaz Gonzalez, Abel</dc:creator>
  <cp:lastModifiedBy>Diaz Gonzalez, Abel</cp:lastModifiedBy>
  <cp:revision>71</cp:revision>
  <dcterms:created xsi:type="dcterms:W3CDTF">2023-04-24T07:22:51Z</dcterms:created>
  <dcterms:modified xsi:type="dcterms:W3CDTF">2026-03-12T05:06:50Z</dcterms:modified>
</cp:coreProperties>
</file>