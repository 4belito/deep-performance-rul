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5"/>
  </p:notesMasterIdLst>
  <p:sldIdLst>
    <p:sldId id="445" r:id="rId2"/>
    <p:sldId id="447" r:id="rId3"/>
    <p:sldId id="446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689CD07-4319-6ABF-FCA2-709A48D1265C}" name="Diaz Gonzalez, Abel" initials="AD" userId="S::abel.diaz.gonzalez@vanderbilt.edu::35d0b763-d6c0-48e6-9203-92eb85478cb6" providerId="AD"/>
  <p188:author id="{B62295ED-20F8-769B-3464-A268E377FDCB}" name="Quinones Grueiro, Marcos" initials="MQ" userId="S::marcos.quinones.grueiro@vanderbilt.edu::536cb631-8b62-4de7-ba32-edf7a1ad6d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1F17"/>
    <a:srgbClr val="C3A689"/>
    <a:srgbClr val="A7825C"/>
    <a:srgbClr val="967146"/>
    <a:srgbClr val="564534"/>
    <a:srgbClr val="5E4C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30" autoAdjust="0"/>
    <p:restoredTop sz="86477"/>
  </p:normalViewPr>
  <p:slideViewPr>
    <p:cSldViewPr snapToGrid="0">
      <p:cViewPr varScale="1">
        <p:scale>
          <a:sx n="133" d="100"/>
          <a:sy n="133" d="100"/>
        </p:scale>
        <p:origin x="1928" y="19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121" d="100"/>
          <a:sy n="121" d="100"/>
        </p:scale>
        <p:origin x="3096" y="19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10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1859D8-B66A-47F9-B914-23B1751CA91A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4BD73-FC65-4FE7-9E21-0975921F302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2625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4BD73-FC65-4FE7-9E21-0975921F302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9210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0B8D6A-BA28-0589-BC0F-63C5787FD4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3CB70DE-96F9-69DE-4474-395DA4397F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AE85CD0-0C1E-3AF6-B96D-92ABCCF2986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02D04C-CC5A-BF54-8009-785684E02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4BD73-FC65-4FE7-9E21-0975921F302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070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36268A-BE85-B881-888C-DC9DA6220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E538737-DCAB-D2B9-FFA9-D4D84E3208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F1B941-F48C-A988-1CDD-DBEC4B604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29FE392-8A12-70A2-8006-B73AC44A9B8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4BD73-FC65-4FE7-9E21-0975921F302F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72250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2496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7837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53566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78796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8610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78549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3864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2997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8974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436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435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B6AD91-4B23-4744-80DD-8D3955A9F328}" type="datetimeFigureOut">
              <a:rPr lang="en-US" smtClean="0"/>
              <a:t>3/14/26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1D33F5-01F4-4E69-96C3-F3BF8CED48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9566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.png"/><Relationship Id="rId9" Type="http://schemas.openxmlformats.org/officeDocument/2006/relationships/image" Target="../media/image1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1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Rectángulo 719">
            <a:extLst>
              <a:ext uri="{FF2B5EF4-FFF2-40B4-BE49-F238E27FC236}">
                <a16:creationId xmlns:a16="http://schemas.microsoft.com/office/drawing/2014/main" id="{B0F3DD98-105E-EBBA-AB57-0887132791DC}"/>
              </a:ext>
            </a:extLst>
          </p:cNvPr>
          <p:cNvSpPr/>
          <p:nvPr/>
        </p:nvSpPr>
        <p:spPr>
          <a:xfrm>
            <a:off x="1657273" y="624109"/>
            <a:ext cx="2344061" cy="4466875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Rectángulo 719">
            <a:extLst>
              <a:ext uri="{FF2B5EF4-FFF2-40B4-BE49-F238E27FC236}">
                <a16:creationId xmlns:a16="http://schemas.microsoft.com/office/drawing/2014/main" id="{B0F3DD98-105E-EBBA-AB57-0887132791DC}"/>
              </a:ext>
            </a:extLst>
          </p:cNvPr>
          <p:cNvSpPr/>
          <p:nvPr/>
        </p:nvSpPr>
        <p:spPr>
          <a:xfrm>
            <a:off x="183360" y="1198187"/>
            <a:ext cx="900583" cy="68490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System</a:t>
            </a:r>
          </a:p>
        </p:txBody>
      </p:sp>
      <p:cxnSp>
        <p:nvCxnSpPr>
          <p:cNvPr id="60" name="Straight Arrow Connector 582">
            <a:extLst>
              <a:ext uri="{FF2B5EF4-FFF2-40B4-BE49-F238E27FC236}">
                <a16:creationId xmlns:a16="http://schemas.microsoft.com/office/drawing/2014/main" id="{F8E77F52-C0CE-71BE-BB81-4D22D69DE19A}"/>
              </a:ext>
            </a:extLst>
          </p:cNvPr>
          <p:cNvCxnSpPr>
            <a:cxnSpLocks/>
            <a:stCxn id="5" idx="3"/>
          </p:cNvCxnSpPr>
          <p:nvPr/>
        </p:nvCxnSpPr>
        <p:spPr>
          <a:xfrm flipV="1">
            <a:off x="1083943" y="1539410"/>
            <a:ext cx="863979" cy="122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956923-66C7-22C9-FFFB-44ADB6E8F31D}"/>
                  </a:ext>
                </a:extLst>
              </p:cNvPr>
              <p:cNvSpPr txBox="1"/>
              <p:nvPr/>
            </p:nvSpPr>
            <p:spPr>
              <a:xfrm>
                <a:off x="1250576" y="1504620"/>
                <a:ext cx="3034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62956923-66C7-22C9-FFFB-44ADB6E8F31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0576" y="1504620"/>
                <a:ext cx="303436" cy="369332"/>
              </a:xfrm>
              <a:prstGeom prst="rect">
                <a:avLst/>
              </a:prstGeom>
              <a:blipFill>
                <a:blip r:embed="rId3"/>
                <a:stretch>
                  <a:fillRect r="-12000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160 Rectángulo">
            <a:extLst>
              <a:ext uri="{FF2B5EF4-FFF2-40B4-BE49-F238E27FC236}">
                <a16:creationId xmlns:a16="http://schemas.microsoft.com/office/drawing/2014/main" id="{181BC072-E92F-F594-50F4-B7C3DEF660AA}"/>
              </a:ext>
            </a:extLst>
          </p:cNvPr>
          <p:cNvSpPr/>
          <p:nvPr/>
        </p:nvSpPr>
        <p:spPr>
          <a:xfrm>
            <a:off x="2184601" y="152868"/>
            <a:ext cx="120430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Estimation</a:t>
            </a:r>
          </a:p>
        </p:txBody>
      </p:sp>
      <p:sp>
        <p:nvSpPr>
          <p:cNvPr id="37" name="160 Rectángulo">
            <a:extLst>
              <a:ext uri="{FF2B5EF4-FFF2-40B4-BE49-F238E27FC236}">
                <a16:creationId xmlns:a16="http://schemas.microsoft.com/office/drawing/2014/main" id="{4A432687-D952-BF7F-7181-B2DB2D86D9F2}"/>
              </a:ext>
            </a:extLst>
          </p:cNvPr>
          <p:cNvSpPr/>
          <p:nvPr/>
        </p:nvSpPr>
        <p:spPr>
          <a:xfrm>
            <a:off x="7064332" y="146577"/>
            <a:ext cx="116153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Prediction</a:t>
            </a:r>
          </a:p>
        </p:txBody>
      </p:sp>
      <p:sp>
        <p:nvSpPr>
          <p:cNvPr id="124" name="160 Rectángulo">
            <a:extLst>
              <a:ext uri="{FF2B5EF4-FFF2-40B4-BE49-F238E27FC236}">
                <a16:creationId xmlns:a16="http://schemas.microsoft.com/office/drawing/2014/main" id="{E66F5D3E-5C8F-B282-E48B-75223C5D70D8}"/>
              </a:ext>
            </a:extLst>
          </p:cNvPr>
          <p:cNvSpPr/>
          <p:nvPr/>
        </p:nvSpPr>
        <p:spPr>
          <a:xfrm>
            <a:off x="9070900" y="3395209"/>
            <a:ext cx="1658631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RUL with confident </a:t>
            </a:r>
          </a:p>
          <a:p>
            <a:pPr algn="ctr"/>
            <a:r>
              <a:rPr lang="en-US" dirty="0"/>
              <a:t>intervals</a:t>
            </a:r>
          </a:p>
        </p:txBody>
      </p:sp>
      <p:cxnSp>
        <p:nvCxnSpPr>
          <p:cNvPr id="64" name="Straight Arrow Connector 582">
            <a:extLst>
              <a:ext uri="{FF2B5EF4-FFF2-40B4-BE49-F238E27FC236}">
                <a16:creationId xmlns:a16="http://schemas.microsoft.com/office/drawing/2014/main" id="{F8E77F52-C0CE-71BE-BB81-4D22D69DE19A}"/>
              </a:ext>
            </a:extLst>
          </p:cNvPr>
          <p:cNvCxnSpPr>
            <a:cxnSpLocks/>
            <a:stCxn id="10" idx="2"/>
            <a:endCxn id="71" idx="0"/>
          </p:cNvCxnSpPr>
          <p:nvPr/>
        </p:nvCxnSpPr>
        <p:spPr>
          <a:xfrm flipH="1">
            <a:off x="2821113" y="1901304"/>
            <a:ext cx="8190" cy="4528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582">
            <a:extLst>
              <a:ext uri="{FF2B5EF4-FFF2-40B4-BE49-F238E27FC236}">
                <a16:creationId xmlns:a16="http://schemas.microsoft.com/office/drawing/2014/main" id="{75478F5B-D9BE-98AF-E1E7-86410CD6F9F2}"/>
              </a:ext>
            </a:extLst>
          </p:cNvPr>
          <p:cNvCxnSpPr>
            <a:cxnSpLocks/>
          </p:cNvCxnSpPr>
          <p:nvPr/>
        </p:nvCxnSpPr>
        <p:spPr>
          <a:xfrm flipH="1">
            <a:off x="6411662" y="3042011"/>
            <a:ext cx="1" cy="14403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89AB54A-2E56-506A-5146-B8FB43DE1437}"/>
                  </a:ext>
                </a:extLst>
              </p:cNvPr>
              <p:cNvSpPr/>
              <p:nvPr/>
            </p:nvSpPr>
            <p:spPr>
              <a:xfrm>
                <a:off x="2321746" y="5554821"/>
                <a:ext cx="3016373" cy="89506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44450" cap="rnd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system input 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system output at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state estimation at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</p:txBody>
          </p:sp>
        </mc:Choice>
        <mc:Fallback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889AB54A-2E56-506A-5146-B8FB43DE1437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1746" y="5554821"/>
                <a:ext cx="3016373" cy="895061"/>
              </a:xfrm>
              <a:prstGeom prst="rect">
                <a:avLst/>
              </a:prstGeom>
              <a:blipFill>
                <a:blip r:embed="rId4"/>
                <a:stretch>
                  <a:fillRect b="-1333"/>
                </a:stretch>
              </a:blipFill>
              <a:ln w="44450" cap="rnd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2036ECD3-1148-D50F-FD89-5386F8F5AEF9}"/>
              </a:ext>
            </a:extLst>
          </p:cNvPr>
          <p:cNvCxnSpPr>
            <a:cxnSpLocks/>
            <a:stCxn id="5" idx="0"/>
          </p:cNvCxnSpPr>
          <p:nvPr/>
        </p:nvCxnSpPr>
        <p:spPr>
          <a:xfrm rot="5400000" flipH="1" flipV="1">
            <a:off x="1248037" y="498302"/>
            <a:ext cx="85500" cy="1314270"/>
          </a:xfrm>
          <a:prstGeom prst="bent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82">
            <a:extLst>
              <a:ext uri="{FF2B5EF4-FFF2-40B4-BE49-F238E27FC236}">
                <a16:creationId xmlns:a16="http://schemas.microsoft.com/office/drawing/2014/main" id="{A54695F9-9680-3064-FF62-7ACD6CA3679A}"/>
              </a:ext>
            </a:extLst>
          </p:cNvPr>
          <p:cNvCxnSpPr>
            <a:cxnSpLocks/>
            <a:stCxn id="71" idx="2"/>
          </p:cNvCxnSpPr>
          <p:nvPr/>
        </p:nvCxnSpPr>
        <p:spPr>
          <a:xfrm>
            <a:off x="2821113" y="3243169"/>
            <a:ext cx="8190" cy="46260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ángulo 719">
            <a:extLst>
              <a:ext uri="{FF2B5EF4-FFF2-40B4-BE49-F238E27FC236}">
                <a16:creationId xmlns:a16="http://schemas.microsoft.com/office/drawing/2014/main" id="{ACECFF16-9AC5-F467-9BD7-F60EF45D5DDD}"/>
              </a:ext>
            </a:extLst>
          </p:cNvPr>
          <p:cNvSpPr/>
          <p:nvPr/>
        </p:nvSpPr>
        <p:spPr>
          <a:xfrm>
            <a:off x="1931542" y="869571"/>
            <a:ext cx="1795522" cy="103173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Dynamic 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Model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663DAD-0561-2D6D-2B46-23DF42764AB6}"/>
                  </a:ext>
                </a:extLst>
              </p:cNvPr>
              <p:cNvSpPr txBox="1"/>
              <p:nvPr/>
            </p:nvSpPr>
            <p:spPr>
              <a:xfrm>
                <a:off x="1155716" y="743355"/>
                <a:ext cx="303436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/>
              </a:p>
            </p:txBody>
          </p:sp>
        </mc:Choice>
        <mc:Fallback xmlns="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CA663DAD-0561-2D6D-2B46-23DF42764A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55716" y="743355"/>
                <a:ext cx="303436" cy="369332"/>
              </a:xfrm>
              <a:prstGeom prst="rect">
                <a:avLst/>
              </a:prstGeom>
              <a:blipFill>
                <a:blip r:embed="rId5"/>
                <a:stretch>
                  <a:fillRect r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0BB97E9-64D0-A35E-E903-FEA444B7ABC1}"/>
                  </a:ext>
                </a:extLst>
              </p:cNvPr>
              <p:cNvSpPr txBox="1"/>
              <p:nvPr/>
            </p:nvSpPr>
            <p:spPr>
              <a:xfrm>
                <a:off x="2803709" y="1948879"/>
                <a:ext cx="778124" cy="38106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𝜃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90BB97E9-64D0-A35E-E903-FEA444B7AB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3709" y="1948879"/>
                <a:ext cx="778124" cy="381066"/>
              </a:xfrm>
              <a:prstGeom prst="rect">
                <a:avLst/>
              </a:prstGeom>
              <a:blipFill>
                <a:blip r:embed="rId6"/>
                <a:stretch>
                  <a:fillRect t="-322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1" name="Rectángulo 719">
            <a:extLst>
              <a:ext uri="{FF2B5EF4-FFF2-40B4-BE49-F238E27FC236}">
                <a16:creationId xmlns:a16="http://schemas.microsoft.com/office/drawing/2014/main" id="{23E7537C-F8A9-D41E-4197-50B96CB5F120}"/>
              </a:ext>
            </a:extLst>
          </p:cNvPr>
          <p:cNvSpPr/>
          <p:nvPr/>
        </p:nvSpPr>
        <p:spPr>
          <a:xfrm>
            <a:off x="1931542" y="2354151"/>
            <a:ext cx="1779142" cy="889018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System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Performance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Model</a:t>
            </a:r>
            <a:endParaRPr lang="en-US" sz="1600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8F217D3-8C23-4F9A-743F-B875BEE1E555}"/>
                  </a:ext>
                </a:extLst>
              </p:cNvPr>
              <p:cNvSpPr txBox="1"/>
              <p:nvPr/>
            </p:nvSpPr>
            <p:spPr>
              <a:xfrm>
                <a:off x="2786754" y="3281156"/>
                <a:ext cx="585445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</m:acc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81" name="TextBox 80">
                <a:extLst>
                  <a:ext uri="{FF2B5EF4-FFF2-40B4-BE49-F238E27FC236}">
                    <a16:creationId xmlns:a16="http://schemas.microsoft.com/office/drawing/2014/main" id="{08F217D3-8C23-4F9A-743F-B875BEE1E5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6754" y="3281156"/>
                <a:ext cx="58544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Rectángulo 719">
            <a:extLst>
              <a:ext uri="{FF2B5EF4-FFF2-40B4-BE49-F238E27FC236}">
                <a16:creationId xmlns:a16="http://schemas.microsoft.com/office/drawing/2014/main" id="{2488B2DD-AFF3-F58B-4A43-B04841235001}"/>
              </a:ext>
            </a:extLst>
          </p:cNvPr>
          <p:cNvSpPr/>
          <p:nvPr/>
        </p:nvSpPr>
        <p:spPr>
          <a:xfrm>
            <a:off x="1947922" y="3713279"/>
            <a:ext cx="1762762" cy="8815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Bayesian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96" name="Rectángulo 719">
            <a:extLst>
              <a:ext uri="{FF2B5EF4-FFF2-40B4-BE49-F238E27FC236}">
                <a16:creationId xmlns:a16="http://schemas.microsoft.com/office/drawing/2014/main" id="{07D3BDEE-B976-2E97-2361-8B8916CC2035}"/>
              </a:ext>
            </a:extLst>
          </p:cNvPr>
          <p:cNvSpPr/>
          <p:nvPr/>
        </p:nvSpPr>
        <p:spPr>
          <a:xfrm>
            <a:off x="1905373" y="3760018"/>
            <a:ext cx="1762762" cy="8815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Bayesian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97" name="Rectángulo 719">
            <a:extLst>
              <a:ext uri="{FF2B5EF4-FFF2-40B4-BE49-F238E27FC236}">
                <a16:creationId xmlns:a16="http://schemas.microsoft.com/office/drawing/2014/main" id="{42BDB5E6-5E96-3460-5F7C-A8903AB237A5}"/>
              </a:ext>
            </a:extLst>
          </p:cNvPr>
          <p:cNvSpPr/>
          <p:nvPr/>
        </p:nvSpPr>
        <p:spPr>
          <a:xfrm>
            <a:off x="1870701" y="3789746"/>
            <a:ext cx="1762762" cy="8815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Bayesian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Filter</a:t>
            </a:r>
          </a:p>
        </p:txBody>
      </p:sp>
      <p:sp>
        <p:nvSpPr>
          <p:cNvPr id="108" name="Rectángulo 719">
            <a:extLst>
              <a:ext uri="{FF2B5EF4-FFF2-40B4-BE49-F238E27FC236}">
                <a16:creationId xmlns:a16="http://schemas.microsoft.com/office/drawing/2014/main" id="{F229E340-5588-2506-93DC-569BD7069A88}"/>
              </a:ext>
            </a:extLst>
          </p:cNvPr>
          <p:cNvSpPr/>
          <p:nvPr/>
        </p:nvSpPr>
        <p:spPr>
          <a:xfrm>
            <a:off x="6262036" y="624109"/>
            <a:ext cx="2851599" cy="4466875"/>
          </a:xfrm>
          <a:prstGeom prst="rect">
            <a:avLst/>
          </a:prstGeom>
          <a:solidFill>
            <a:schemeClr val="bg1">
              <a:lumMod val="6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kumimoji="0" lang="en-US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cxnSp>
        <p:nvCxnSpPr>
          <p:cNvPr id="139" name="Connector: Elbow 15">
            <a:extLst>
              <a:ext uri="{FF2B5EF4-FFF2-40B4-BE49-F238E27FC236}">
                <a16:creationId xmlns:a16="http://schemas.microsoft.com/office/drawing/2014/main" id="{A5C8BB58-394F-B3C3-7BCB-29F1EE409920}"/>
              </a:ext>
            </a:extLst>
          </p:cNvPr>
          <p:cNvCxnSpPr>
            <a:cxnSpLocks/>
            <a:stCxn id="97" idx="3"/>
            <a:endCxn id="118" idx="1"/>
          </p:cNvCxnSpPr>
          <p:nvPr/>
        </p:nvCxnSpPr>
        <p:spPr>
          <a:xfrm flipV="1">
            <a:off x="3633463" y="1657086"/>
            <a:ext cx="2884080" cy="2573417"/>
          </a:xfrm>
          <a:prstGeom prst="bentConnector3">
            <a:avLst>
              <a:gd name="adj1" fmla="val 3329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949AE446-FCD7-9D51-BBEC-3EF6D4CC0194}"/>
              </a:ext>
            </a:extLst>
          </p:cNvPr>
          <p:cNvGrpSpPr/>
          <p:nvPr/>
        </p:nvGrpSpPr>
        <p:grpSpPr>
          <a:xfrm>
            <a:off x="6517543" y="910371"/>
            <a:ext cx="2340584" cy="1383035"/>
            <a:chOff x="6427906" y="1248529"/>
            <a:chExt cx="1829571" cy="957981"/>
          </a:xfrm>
        </p:grpSpPr>
        <p:sp>
          <p:nvSpPr>
            <p:cNvPr id="112" name="Rectángulo 719">
              <a:extLst>
                <a:ext uri="{FF2B5EF4-FFF2-40B4-BE49-F238E27FC236}">
                  <a16:creationId xmlns:a16="http://schemas.microsoft.com/office/drawing/2014/main" id="{FC092685-4E9B-2783-61AF-B0B92B71EB0A}"/>
                </a:ext>
              </a:extLst>
            </p:cNvPr>
            <p:cNvSpPr/>
            <p:nvPr/>
          </p:nvSpPr>
          <p:spPr>
            <a:xfrm>
              <a:off x="6494715" y="1248529"/>
              <a:ext cx="1762762" cy="881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Performance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Degradation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</a:t>
              </a:r>
            </a:p>
          </p:txBody>
        </p:sp>
        <p:sp>
          <p:nvSpPr>
            <p:cNvPr id="115" name="Rectángulo 719">
              <a:extLst>
                <a:ext uri="{FF2B5EF4-FFF2-40B4-BE49-F238E27FC236}">
                  <a16:creationId xmlns:a16="http://schemas.microsoft.com/office/drawing/2014/main" id="{646BFECB-B590-7276-38B9-8778F14D831A}"/>
                </a:ext>
              </a:extLst>
            </p:cNvPr>
            <p:cNvSpPr/>
            <p:nvPr/>
          </p:nvSpPr>
          <p:spPr>
            <a:xfrm>
              <a:off x="6457226" y="1288734"/>
              <a:ext cx="1762762" cy="881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Performance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Degradation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</a:t>
              </a:r>
            </a:p>
          </p:txBody>
        </p:sp>
        <p:sp>
          <p:nvSpPr>
            <p:cNvPr id="118" name="Rectángulo 719">
              <a:extLst>
                <a:ext uri="{FF2B5EF4-FFF2-40B4-BE49-F238E27FC236}">
                  <a16:creationId xmlns:a16="http://schemas.microsoft.com/office/drawing/2014/main" id="{012BEC8E-78EC-2277-8AF8-72305561311D}"/>
                </a:ext>
              </a:extLst>
            </p:cNvPr>
            <p:cNvSpPr/>
            <p:nvPr/>
          </p:nvSpPr>
          <p:spPr>
            <a:xfrm>
              <a:off x="6427906" y="1324996"/>
              <a:ext cx="1762762" cy="881514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Performance</a:t>
              </a:r>
              <a:endParaRPr lang="en-US" sz="1600" dirty="0">
                <a:solidFill>
                  <a:schemeClr val="tx1"/>
                </a:solidFill>
              </a:endParaRP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Degradation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Model</a:t>
              </a:r>
            </a:p>
          </p:txBody>
        </p:sp>
      </p:grpSp>
      <p:cxnSp>
        <p:nvCxnSpPr>
          <p:cNvPr id="121" name="Straight Arrow Connector 582">
            <a:extLst>
              <a:ext uri="{FF2B5EF4-FFF2-40B4-BE49-F238E27FC236}">
                <a16:creationId xmlns:a16="http://schemas.microsoft.com/office/drawing/2014/main" id="{4EF5720B-5984-B61A-60C8-D5E2E77295EB}"/>
              </a:ext>
            </a:extLst>
          </p:cNvPr>
          <p:cNvCxnSpPr>
            <a:cxnSpLocks/>
            <a:stCxn id="118" idx="2"/>
            <a:endCxn id="18" idx="0"/>
          </p:cNvCxnSpPr>
          <p:nvPr/>
        </p:nvCxnSpPr>
        <p:spPr>
          <a:xfrm>
            <a:off x="7645101" y="2293406"/>
            <a:ext cx="0" cy="92011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64472B2-2410-5867-3DDB-190F6B0B9792}"/>
                  </a:ext>
                </a:extLst>
              </p:cNvPr>
              <p:cNvSpPr txBox="1"/>
              <p:nvPr/>
            </p:nvSpPr>
            <p:spPr>
              <a:xfrm>
                <a:off x="4551151" y="1248529"/>
                <a:ext cx="116694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dirty="0"/>
              </a:p>
            </p:txBody>
          </p:sp>
        </mc:Choice>
        <mc:Fallback>
          <p:sp>
            <p:nvSpPr>
              <p:cNvPr id="125" name="TextBox 124">
                <a:extLst>
                  <a:ext uri="{FF2B5EF4-FFF2-40B4-BE49-F238E27FC236}">
                    <a16:creationId xmlns:a16="http://schemas.microsoft.com/office/drawing/2014/main" id="{664472B2-2410-5867-3DDB-190F6B0B97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51151" y="1248529"/>
                <a:ext cx="1166941" cy="369332"/>
              </a:xfrm>
              <a:prstGeom prst="rect">
                <a:avLst/>
              </a:prstGeom>
              <a:blipFill>
                <a:blip r:embed="rId8"/>
                <a:stretch>
                  <a:fillRect r="-4731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3B710C0-0BEC-C637-0F8D-257468831B3C}"/>
                  </a:ext>
                </a:extLst>
              </p:cNvPr>
              <p:cNvSpPr txBox="1"/>
              <p:nvPr/>
            </p:nvSpPr>
            <p:spPr>
              <a:xfrm>
                <a:off x="7645100" y="2413643"/>
                <a:ext cx="1365948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1400" i="1" dirty="0" smtClean="0"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𝑂𝐿</m:t>
                      </m:r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𝑢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US" sz="140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1:</m:t>
                          </m:r>
                          <m:r>
                            <a:rPr lang="en-US" sz="1400" b="0" i="1" dirty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400" b="0" i="1" dirty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dirty="0"/>
              </a:p>
            </p:txBody>
          </p:sp>
        </mc:Choice>
        <mc:Fallback xmlns="">
          <p:sp>
            <p:nvSpPr>
              <p:cNvPr id="131" name="TextBox 130">
                <a:extLst>
                  <a:ext uri="{FF2B5EF4-FFF2-40B4-BE49-F238E27FC236}">
                    <a16:creationId xmlns:a16="http://schemas.microsoft.com/office/drawing/2014/main" id="{B3B710C0-0BEC-C637-0F8D-257468831B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5100" y="2413643"/>
                <a:ext cx="1365948" cy="307777"/>
              </a:xfrm>
              <a:prstGeom prst="rect">
                <a:avLst/>
              </a:prstGeom>
              <a:blipFill>
                <a:blip r:embed="rId9"/>
                <a:stretch>
                  <a:fillRect r="-9174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770">
            <a:extLst>
              <a:ext uri="{FF2B5EF4-FFF2-40B4-BE49-F238E27FC236}">
                <a16:creationId xmlns:a16="http://schemas.microsoft.com/office/drawing/2014/main" id="{8D9738BC-9045-5E47-E57F-F5FFF4C1090F}"/>
              </a:ext>
            </a:extLst>
          </p:cNvPr>
          <p:cNvSpPr/>
          <p:nvPr/>
        </p:nvSpPr>
        <p:spPr>
          <a:xfrm>
            <a:off x="6517543" y="3213520"/>
            <a:ext cx="2255115" cy="1286709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RUL</a:t>
            </a:r>
            <a:r>
              <a:rPr lang="en-US" dirty="0">
                <a:solidFill>
                  <a:schemeClr val="tx1"/>
                </a:solidFill>
              </a:rPr>
              <a:t> and ℓ - confidence interval computation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43" name="Straight Arrow Connector 582">
            <a:extLst>
              <a:ext uri="{FF2B5EF4-FFF2-40B4-BE49-F238E27FC236}">
                <a16:creationId xmlns:a16="http://schemas.microsoft.com/office/drawing/2014/main" id="{2E71C720-2D56-225B-1BE8-5A3758EDBBBE}"/>
              </a:ext>
            </a:extLst>
          </p:cNvPr>
          <p:cNvCxnSpPr>
            <a:cxnSpLocks/>
            <a:stCxn id="18" idx="3"/>
          </p:cNvCxnSpPr>
          <p:nvPr/>
        </p:nvCxnSpPr>
        <p:spPr>
          <a:xfrm flipV="1">
            <a:off x="8772658" y="3856874"/>
            <a:ext cx="596484" cy="1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582">
            <a:extLst>
              <a:ext uri="{FF2B5EF4-FFF2-40B4-BE49-F238E27FC236}">
                <a16:creationId xmlns:a16="http://schemas.microsoft.com/office/drawing/2014/main" id="{A046756D-E704-BA6C-0A65-A875C288CF7B}"/>
              </a:ext>
            </a:extLst>
          </p:cNvPr>
          <p:cNvCxnSpPr>
            <a:cxnSpLocks/>
            <a:endCxn id="18" idx="1"/>
          </p:cNvCxnSpPr>
          <p:nvPr/>
        </p:nvCxnSpPr>
        <p:spPr>
          <a:xfrm>
            <a:off x="6006529" y="3856875"/>
            <a:ext cx="51101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9" name="160 Rectángulo">
            <a:extLst>
              <a:ext uri="{FF2B5EF4-FFF2-40B4-BE49-F238E27FC236}">
                <a16:creationId xmlns:a16="http://schemas.microsoft.com/office/drawing/2014/main" id="{5C8DADF3-B84D-C230-77CA-470FDDAEC6ED}"/>
              </a:ext>
            </a:extLst>
          </p:cNvPr>
          <p:cNvSpPr/>
          <p:nvPr/>
        </p:nvSpPr>
        <p:spPr>
          <a:xfrm>
            <a:off x="4639716" y="3539797"/>
            <a:ext cx="1658631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1600" dirty="0"/>
              <a:t>Performance</a:t>
            </a:r>
          </a:p>
          <a:p>
            <a:pPr algn="ctr"/>
            <a:r>
              <a:rPr lang="en-US" sz="1600" dirty="0"/>
              <a:t>constraints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CDC65885-7400-721A-2F05-16B363A9B80A}"/>
                  </a:ext>
                </a:extLst>
              </p:cNvPr>
              <p:cNvSpPr/>
              <p:nvPr/>
            </p:nvSpPr>
            <p:spPr>
              <a:xfrm>
                <a:off x="5345696" y="5554820"/>
                <a:ext cx="4131936" cy="895061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44450" cap="rnd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system parameter estimation at time </a:t>
                </a:r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1600" b="0" i="1" smtClean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performance estimation at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𝜙</m:t>
                        </m:r>
                      </m:e>
                      <m:sub>
                        <m:r>
                          <a:rPr lang="en-US" sz="1600" b="0" i="1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: degradation parameters time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 </a:t>
                </a:r>
              </a:p>
            </p:txBody>
          </p:sp>
        </mc:Choice>
        <mc:Fallback xmlns=""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CDC65885-7400-721A-2F05-16B363A9B80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45696" y="5554820"/>
                <a:ext cx="4131936" cy="895061"/>
              </a:xfrm>
              <a:prstGeom prst="rect">
                <a:avLst/>
              </a:prstGeom>
              <a:blipFill>
                <a:blip r:embed="rId10"/>
                <a:stretch>
                  <a:fillRect b="-1333"/>
                </a:stretch>
              </a:blipFill>
              <a:ln w="44450" cap="rnd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7734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8CFF22-BE9D-C6DD-D34C-B37A05F1E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719">
            <a:extLst>
              <a:ext uri="{FF2B5EF4-FFF2-40B4-BE49-F238E27FC236}">
                <a16:creationId xmlns:a16="http://schemas.microsoft.com/office/drawing/2014/main" id="{688BA9AC-03FE-1807-2228-774EFCB03513}"/>
              </a:ext>
            </a:extLst>
          </p:cNvPr>
          <p:cNvSpPr/>
          <p:nvPr/>
        </p:nvSpPr>
        <p:spPr>
          <a:xfrm>
            <a:off x="6199803" y="1728964"/>
            <a:ext cx="2934961" cy="2547472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FBA5E440-A102-1CD2-1583-C2B772228DFC}"/>
                  </a:ext>
                </a:extLst>
              </p:cNvPr>
              <p:cNvSpPr/>
              <p:nvPr/>
            </p:nvSpPr>
            <p:spPr>
              <a:xfrm>
                <a:off x="6512376" y="3132357"/>
                <a:ext cx="2406483" cy="62378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𝑅𝑈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 prediction with confidence interval</a:t>
                </a:r>
              </a:p>
            </p:txBody>
          </p:sp>
        </mc:Choice>
        <mc:Fallback xmlns="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FBA5E440-A102-1CD2-1583-C2B772228DFC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12376" y="3132357"/>
                <a:ext cx="2406483" cy="623784"/>
              </a:xfrm>
              <a:prstGeom prst="rect">
                <a:avLst/>
              </a:prstGeom>
              <a:blipFill>
                <a:blip r:embed="rId3"/>
                <a:stretch>
                  <a:fillRect t="-1961" b="-39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160 Rectángulo">
            <a:extLst>
              <a:ext uri="{FF2B5EF4-FFF2-40B4-BE49-F238E27FC236}">
                <a16:creationId xmlns:a16="http://schemas.microsoft.com/office/drawing/2014/main" id="{47173739-DF8B-8C2D-E8AB-076322EC65B7}"/>
              </a:ext>
            </a:extLst>
          </p:cNvPr>
          <p:cNvSpPr/>
          <p:nvPr/>
        </p:nvSpPr>
        <p:spPr>
          <a:xfrm>
            <a:off x="2871012" y="1118846"/>
            <a:ext cx="1862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EOL Particle Filter</a:t>
            </a:r>
          </a:p>
        </p:txBody>
      </p:sp>
      <p:sp>
        <p:nvSpPr>
          <p:cNvPr id="32" name="Rectángulo 719">
            <a:extLst>
              <a:ext uri="{FF2B5EF4-FFF2-40B4-BE49-F238E27FC236}">
                <a16:creationId xmlns:a16="http://schemas.microsoft.com/office/drawing/2014/main" id="{636D44DB-7530-292E-5587-FF9A8FE39ECA}"/>
              </a:ext>
            </a:extLst>
          </p:cNvPr>
          <p:cNvSpPr/>
          <p:nvPr/>
        </p:nvSpPr>
        <p:spPr>
          <a:xfrm>
            <a:off x="2081624" y="1717963"/>
            <a:ext cx="3441722" cy="2558473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p:sp>
        <p:nvSpPr>
          <p:cNvPr id="58" name="Rectángulo 719">
            <a:extLst>
              <a:ext uri="{FF2B5EF4-FFF2-40B4-BE49-F238E27FC236}">
                <a16:creationId xmlns:a16="http://schemas.microsoft.com/office/drawing/2014/main" id="{F95373DB-B89B-7A44-09D9-BF4F063BB741}"/>
              </a:ext>
            </a:extLst>
          </p:cNvPr>
          <p:cNvSpPr/>
          <p:nvPr/>
        </p:nvSpPr>
        <p:spPr>
          <a:xfrm>
            <a:off x="3019737" y="1926595"/>
            <a:ext cx="1413718" cy="4972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Propagation</a:t>
            </a:r>
          </a:p>
        </p:txBody>
      </p:sp>
      <p:sp>
        <p:nvSpPr>
          <p:cNvPr id="75" name="Rectángulo 719">
            <a:extLst>
              <a:ext uri="{FF2B5EF4-FFF2-40B4-BE49-F238E27FC236}">
                <a16:creationId xmlns:a16="http://schemas.microsoft.com/office/drawing/2014/main" id="{0874C4AA-D26B-0A88-D860-FBFDF5604736}"/>
              </a:ext>
            </a:extLst>
          </p:cNvPr>
          <p:cNvSpPr/>
          <p:nvPr/>
        </p:nvSpPr>
        <p:spPr>
          <a:xfrm>
            <a:off x="2695696" y="2715087"/>
            <a:ext cx="2122017" cy="4972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Tempered Correction</a:t>
            </a:r>
          </a:p>
        </p:txBody>
      </p:sp>
      <p:sp>
        <p:nvSpPr>
          <p:cNvPr id="89" name="Rectángulo 719">
            <a:extLst>
              <a:ext uri="{FF2B5EF4-FFF2-40B4-BE49-F238E27FC236}">
                <a16:creationId xmlns:a16="http://schemas.microsoft.com/office/drawing/2014/main" id="{107ED335-8B6C-E651-54D5-0ED500B09C1C}"/>
              </a:ext>
            </a:extLst>
          </p:cNvPr>
          <p:cNvSpPr/>
          <p:nvPr/>
        </p:nvSpPr>
        <p:spPr>
          <a:xfrm>
            <a:off x="3175021" y="3586777"/>
            <a:ext cx="1163365" cy="497214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Resampling</a:t>
            </a:r>
          </a:p>
        </p:txBody>
      </p:sp>
      <p:cxnSp>
        <p:nvCxnSpPr>
          <p:cNvPr id="98" name="Straight Arrow Connector 582">
            <a:extLst>
              <a:ext uri="{FF2B5EF4-FFF2-40B4-BE49-F238E27FC236}">
                <a16:creationId xmlns:a16="http://schemas.microsoft.com/office/drawing/2014/main" id="{62D69C0A-0198-1128-7131-4998A98DCE50}"/>
              </a:ext>
            </a:extLst>
          </p:cNvPr>
          <p:cNvCxnSpPr>
            <a:cxnSpLocks/>
            <a:stCxn id="75" idx="2"/>
            <a:endCxn id="89" idx="0"/>
          </p:cNvCxnSpPr>
          <p:nvPr/>
        </p:nvCxnSpPr>
        <p:spPr>
          <a:xfrm flipH="1">
            <a:off x="3756704" y="3212301"/>
            <a:ext cx="1" cy="374476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82A47D48-8411-74F6-D3D6-8238A57B49E3}"/>
              </a:ext>
            </a:extLst>
          </p:cNvPr>
          <p:cNvCxnSpPr>
            <a:cxnSpLocks/>
            <a:stCxn id="89" idx="3"/>
            <a:endCxn id="58" idx="3"/>
          </p:cNvCxnSpPr>
          <p:nvPr/>
        </p:nvCxnSpPr>
        <p:spPr>
          <a:xfrm flipV="1">
            <a:off x="4338386" y="2175202"/>
            <a:ext cx="95069" cy="1660182"/>
          </a:xfrm>
          <a:prstGeom prst="bentConnector3">
            <a:avLst>
              <a:gd name="adj1" fmla="val 777651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6" name="Rectángulo 719">
            <a:extLst>
              <a:ext uri="{FF2B5EF4-FFF2-40B4-BE49-F238E27FC236}">
                <a16:creationId xmlns:a16="http://schemas.microsoft.com/office/drawing/2014/main" id="{6F50E618-F508-4EDC-38BF-CD29E5DDEA22}"/>
              </a:ext>
            </a:extLst>
          </p:cNvPr>
          <p:cNvSpPr/>
          <p:nvPr/>
        </p:nvSpPr>
        <p:spPr>
          <a:xfrm>
            <a:off x="6467633" y="2206389"/>
            <a:ext cx="2495971" cy="495091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Predictive EOL Distribution</a:t>
            </a:r>
          </a:p>
        </p:txBody>
      </p:sp>
      <p:cxnSp>
        <p:nvCxnSpPr>
          <p:cNvPr id="139" name="Connector: Elbow 15">
            <a:extLst>
              <a:ext uri="{FF2B5EF4-FFF2-40B4-BE49-F238E27FC236}">
                <a16:creationId xmlns:a16="http://schemas.microsoft.com/office/drawing/2014/main" id="{A8C71E06-801C-C6E9-0825-D4DAA0C2DB76}"/>
              </a:ext>
            </a:extLst>
          </p:cNvPr>
          <p:cNvCxnSpPr>
            <a:cxnSpLocks/>
            <a:stCxn id="75" idx="3"/>
            <a:endCxn id="116" idx="1"/>
          </p:cNvCxnSpPr>
          <p:nvPr/>
        </p:nvCxnSpPr>
        <p:spPr>
          <a:xfrm flipV="1">
            <a:off x="4817713" y="2453935"/>
            <a:ext cx="1649920" cy="509759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16B9D17C-2C87-32F4-BC76-86B23005D269}"/>
              </a:ext>
            </a:extLst>
          </p:cNvPr>
          <p:cNvCxnSpPr>
            <a:cxnSpLocks/>
            <a:endCxn id="58" idx="1"/>
          </p:cNvCxnSpPr>
          <p:nvPr/>
        </p:nvCxnSpPr>
        <p:spPr>
          <a:xfrm flipV="1">
            <a:off x="1714652" y="2175202"/>
            <a:ext cx="1305085" cy="788492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82">
            <a:extLst>
              <a:ext uri="{FF2B5EF4-FFF2-40B4-BE49-F238E27FC236}">
                <a16:creationId xmlns:a16="http://schemas.microsoft.com/office/drawing/2014/main" id="{B8BA7BA4-A10A-BD49-0373-73D95E9B58D2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332379" y="2963694"/>
            <a:ext cx="36331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82">
            <a:extLst>
              <a:ext uri="{FF2B5EF4-FFF2-40B4-BE49-F238E27FC236}">
                <a16:creationId xmlns:a16="http://schemas.microsoft.com/office/drawing/2014/main" id="{51C42136-8029-129F-0B0D-2252A72E6082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726596" y="2423809"/>
            <a:ext cx="30109" cy="29127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582">
            <a:extLst>
              <a:ext uri="{FF2B5EF4-FFF2-40B4-BE49-F238E27FC236}">
                <a16:creationId xmlns:a16="http://schemas.microsoft.com/office/drawing/2014/main" id="{AA326655-64D5-40B6-7D08-A75E49FD2B29}"/>
              </a:ext>
            </a:extLst>
          </p:cNvPr>
          <p:cNvCxnSpPr>
            <a:cxnSpLocks/>
            <a:stCxn id="116" idx="2"/>
            <a:endCxn id="18" idx="0"/>
          </p:cNvCxnSpPr>
          <p:nvPr/>
        </p:nvCxnSpPr>
        <p:spPr>
          <a:xfrm flipH="1">
            <a:off x="7715618" y="2701480"/>
            <a:ext cx="1" cy="43087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60 Rectángulo">
            <a:extLst>
              <a:ext uri="{FF2B5EF4-FFF2-40B4-BE49-F238E27FC236}">
                <a16:creationId xmlns:a16="http://schemas.microsoft.com/office/drawing/2014/main" id="{E858A324-8985-C8C9-D0D8-D5084996D198}"/>
              </a:ext>
            </a:extLst>
          </p:cNvPr>
          <p:cNvSpPr/>
          <p:nvPr/>
        </p:nvSpPr>
        <p:spPr>
          <a:xfrm>
            <a:off x="6870910" y="1132179"/>
            <a:ext cx="15927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RUL Prediction</a:t>
            </a:r>
          </a:p>
        </p:txBody>
      </p:sp>
    </p:spTree>
    <p:extLst>
      <p:ext uri="{BB962C8B-B14F-4D97-AF65-F5344CB8AC3E}">
        <p14:creationId xmlns:p14="http://schemas.microsoft.com/office/powerpoint/2010/main" val="1324578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48079-EB80-CF7D-B36A-149C48659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ángulo 719">
            <a:extLst>
              <a:ext uri="{FF2B5EF4-FFF2-40B4-BE49-F238E27FC236}">
                <a16:creationId xmlns:a16="http://schemas.microsoft.com/office/drawing/2014/main" id="{D6660E8E-023F-C3F1-1F68-C91D2D7C4A0E}"/>
              </a:ext>
            </a:extLst>
          </p:cNvPr>
          <p:cNvSpPr/>
          <p:nvPr/>
        </p:nvSpPr>
        <p:spPr>
          <a:xfrm>
            <a:off x="6591018" y="826310"/>
            <a:ext cx="5126182" cy="390292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/>
              <p:nvPr/>
            </p:nvSpPr>
            <p:spPr>
              <a:xfrm>
                <a:off x="6745379" y="3338462"/>
                <a:ext cx="4817456" cy="102640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600" i="1" dirty="0" smtClean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𝑅𝑈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160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ℓ 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- confidence interval </a:t>
                </a:r>
                <a14:m>
                  <m:oMath xmlns:m="http://schemas.openxmlformats.org/officeDocument/2006/math"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[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 err="1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1600" i="1" dirty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600" i="1" dirty="0" err="1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b>
                        <m:r>
                          <a:rPr lang="en-US" sz="1600" b="0" i="1" dirty="0" smtClean="0">
                            <a:solidFill>
                              <a:srgbClr val="271F1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1600" i="1" dirty="0">
                        <a:solidFill>
                          <a:srgbClr val="271F1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1600" dirty="0">
                    <a:solidFill>
                      <a:srgbClr val="271F17"/>
                    </a:solidFill>
                  </a:rPr>
                  <a:t>computation</a:t>
                </a:r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𝑅𝑈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𝑂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>
                  <a:spcAft>
                    <a:spcPts val="60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d>
                        <m:dPr>
                          <m:endChr m:val="|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&lt; </m:t>
                          </m:r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</m:d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 = ℓ</m:t>
                      </m:r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  <a:latin typeface="Cambria Math" panose="02040503050406030204" pitchFamily="18" charset="0"/>
                </a:endParaRPr>
              </a:p>
              <a:p>
                <a:pPr algn="ctr"/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8" name="Rectangle 770">
                <a:extLst>
                  <a:ext uri="{FF2B5EF4-FFF2-40B4-BE49-F238E27FC236}">
                    <a16:creationId xmlns:a16="http://schemas.microsoft.com/office/drawing/2014/main" id="{BB684EF9-2952-FFE9-8AD1-F9FB33F6A09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45379" y="3338462"/>
                <a:ext cx="4817456" cy="1026407"/>
              </a:xfrm>
              <a:prstGeom prst="rect">
                <a:avLst/>
              </a:prstGeom>
              <a:blipFill>
                <a:blip r:embed="rId3"/>
                <a:stretch>
                  <a:fillRect t="-12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/>
              <p:nvPr/>
            </p:nvSpPr>
            <p:spPr>
              <a:xfrm>
                <a:off x="235996" y="2129983"/>
                <a:ext cx="557202" cy="30777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400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US" sz="1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400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sz="14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e>
                        <m:sub>
                          <m:r>
                            <a:rPr lang="en-US" sz="14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r>
                        <a:rPr lang="en-US" sz="1400" b="1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1400" b="1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A8F33DF0-D3A3-3C29-7C79-907EC99FEAB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5996" y="2129983"/>
                <a:ext cx="557202" cy="307777"/>
              </a:xfrm>
              <a:prstGeom prst="rect">
                <a:avLst/>
              </a:prstGeom>
              <a:blipFill>
                <a:blip r:embed="rId4"/>
                <a:stretch>
                  <a:fillRect r="-26667" b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160 Rectángulo">
            <a:extLst>
              <a:ext uri="{FF2B5EF4-FFF2-40B4-BE49-F238E27FC236}">
                <a16:creationId xmlns:a16="http://schemas.microsoft.com/office/drawing/2014/main" id="{C200B6A8-9A85-6201-3C5B-4919BE69CCB6}"/>
              </a:ext>
            </a:extLst>
          </p:cNvPr>
          <p:cNvSpPr/>
          <p:nvPr/>
        </p:nvSpPr>
        <p:spPr>
          <a:xfrm>
            <a:off x="2350075" y="305770"/>
            <a:ext cx="186294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EOL Particle Filter</a:t>
            </a:r>
          </a:p>
        </p:txBody>
      </p:sp>
      <p:sp>
        <p:nvSpPr>
          <p:cNvPr id="32" name="Rectángulo 719">
            <a:extLst>
              <a:ext uri="{FF2B5EF4-FFF2-40B4-BE49-F238E27FC236}">
                <a16:creationId xmlns:a16="http://schemas.microsoft.com/office/drawing/2014/main" id="{B44B664C-F55D-C64F-40D8-9C8C5E66609D}"/>
              </a:ext>
            </a:extLst>
          </p:cNvPr>
          <p:cNvSpPr/>
          <p:nvPr/>
        </p:nvSpPr>
        <p:spPr>
          <a:xfrm>
            <a:off x="1358172" y="831929"/>
            <a:ext cx="3892467" cy="3902921"/>
          </a:xfrm>
          <a:prstGeom prst="rect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chemeClr val="tx1"/>
            </a:solidFill>
            <a:prstDash val="dash"/>
            <a:miter lim="800000"/>
          </a:ln>
          <a:effectLst>
            <a:softEdge rad="12700"/>
          </a:effectLst>
        </p:spPr>
        <p:txBody>
          <a:bodyPr rtlCol="0" anchor="ctr"/>
          <a:lstStyle/>
          <a:p>
            <a:pPr algn="ctr"/>
            <a:endParaRPr lang="en-US" sz="3600" dirty="0">
              <a:solidFill>
                <a:prstClr val="black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/>
              <p:nvPr/>
            </p:nvSpPr>
            <p:spPr>
              <a:xfrm>
                <a:off x="1754355" y="1138898"/>
                <a:ext cx="2632496" cy="7061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Propagation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̃"/>
                              <m:ctrlPr>
                                <a:rPr lang="en-US" sz="16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</m:acc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~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𝒩</m:t>
                      </m:r>
                      <m:d>
                        <m:d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sub>
                            <m:sup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m:rPr>
                              <m:sty m:val="p"/>
                            </m:rPr>
                            <a:rPr lang="el-GR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Σ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58" name="Rectángulo 719">
                <a:extLst>
                  <a:ext uri="{FF2B5EF4-FFF2-40B4-BE49-F238E27FC236}">
                    <a16:creationId xmlns:a16="http://schemas.microsoft.com/office/drawing/2014/main" id="{82146088-1A3A-BAC8-A560-1CB1ED7A494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54355" y="1138898"/>
                <a:ext cx="2632496" cy="706188"/>
              </a:xfrm>
              <a:prstGeom prst="rect">
                <a:avLst/>
              </a:prstGeom>
              <a:blipFill>
                <a:blip r:embed="rId5"/>
                <a:stretch>
                  <a:fillRect t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/>
              <p:nvPr/>
            </p:nvSpPr>
            <p:spPr>
              <a:xfrm>
                <a:off x="1537240" y="2140038"/>
                <a:ext cx="3084924" cy="706188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Tempered Correction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𝜔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en-US" sz="1600" b="0" i="0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n</m:t>
                          </m:r>
                        </m:sub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∝</m:t>
                      </m:r>
                      <m:r>
                        <m:rPr>
                          <m:sty m:val="p"/>
                        </m:rPr>
                        <a:rPr lang="en-US" sz="1600" b="0" i="0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P</m:t>
                      </m:r>
                      <m:sSup>
                        <m:sSup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𝑇</m:t>
                                  </m:r>
                                </m:e>
                                <m:sub>
                                  <m:sSub>
                                    <m:sSubPr>
                                      <m:ctrlP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𝑠</m:t>
                                      </m:r>
                                    </m:e>
                                    <m:sub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</m:sSub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sSub>
                                <m:sSubPr>
                                  <m:ctrlP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𝑡</m:t>
                                  </m:r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| </m:t>
                              </m:r>
                              <m:sSubSup>
                                <m:sSubSup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acc>
                                    <m:accPr>
                                      <m:chr m:val="̃"/>
                                      <m:ctrlP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accPr>
                                    <m:e>
                                      <m:r>
                                        <a:rPr lang="en-US" sz="1600" b="0" i="1" dirty="0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𝜙</m:t>
                                      </m:r>
                                    </m:e>
                                  </m:acc>
                                </m:e>
                                <m:sub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600" i="1" dirty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p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𝜅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𝑡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p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75" name="Rectángulo 719">
                <a:extLst>
                  <a:ext uri="{FF2B5EF4-FFF2-40B4-BE49-F238E27FC236}">
                    <a16:creationId xmlns:a16="http://schemas.microsoft.com/office/drawing/2014/main" id="{B0C5784A-CB90-CC48-CEA7-BA59F57535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37240" y="2140038"/>
                <a:ext cx="3084924" cy="706188"/>
              </a:xfrm>
              <a:prstGeom prst="rect">
                <a:avLst/>
              </a:prstGeom>
              <a:blipFill>
                <a:blip r:embed="rId6"/>
                <a:stretch>
                  <a:fillRect t="-5263" b="-175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/>
              <p:nvPr/>
            </p:nvSpPr>
            <p:spPr>
              <a:xfrm>
                <a:off x="1995472" y="3249250"/>
                <a:ext cx="2168464" cy="103749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Resampling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𝜙</m:t>
                          </m:r>
                        </m:e>
                        <m:sub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)</m:t>
                          </m:r>
                        </m:sup>
                      </m:sSubSup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∼ 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sSub>
                        <m:sSubPr>
                          <m:ctrlP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𝛿</m:t>
                          </m:r>
                        </m:e>
                        <m:sub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sup>
                          </m:sSubSup>
                        </m:sub>
                      </m:sSub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89" name="Rectángulo 719">
                <a:extLst>
                  <a:ext uri="{FF2B5EF4-FFF2-40B4-BE49-F238E27FC236}">
                    <a16:creationId xmlns:a16="http://schemas.microsoft.com/office/drawing/2014/main" id="{138A7EAD-4E82-5A3B-2B26-DE54E83203E9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72" y="3249250"/>
                <a:ext cx="2168464" cy="1037495"/>
              </a:xfrm>
              <a:prstGeom prst="rect">
                <a:avLst/>
              </a:prstGeom>
              <a:blipFill>
                <a:blip r:embed="rId7"/>
                <a:stretch>
                  <a:fillRect t="-46988" b="-1156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8" name="Straight Arrow Connector 582">
            <a:extLst>
              <a:ext uri="{FF2B5EF4-FFF2-40B4-BE49-F238E27FC236}">
                <a16:creationId xmlns:a16="http://schemas.microsoft.com/office/drawing/2014/main" id="{0190F104-0CB6-4F8F-06F1-EC2F7604799C}"/>
              </a:ext>
            </a:extLst>
          </p:cNvPr>
          <p:cNvCxnSpPr>
            <a:cxnSpLocks/>
            <a:stCxn id="75" idx="2"/>
            <a:endCxn id="89" idx="0"/>
          </p:cNvCxnSpPr>
          <p:nvPr/>
        </p:nvCxnSpPr>
        <p:spPr>
          <a:xfrm>
            <a:off x="3079702" y="2846226"/>
            <a:ext cx="2" cy="4030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Elbow Connector 103">
            <a:extLst>
              <a:ext uri="{FF2B5EF4-FFF2-40B4-BE49-F238E27FC236}">
                <a16:creationId xmlns:a16="http://schemas.microsoft.com/office/drawing/2014/main" id="{DD422CF8-DE9C-C884-CACE-1F847ABE3BC7}"/>
              </a:ext>
            </a:extLst>
          </p:cNvPr>
          <p:cNvCxnSpPr>
            <a:cxnSpLocks/>
            <a:stCxn id="89" idx="3"/>
            <a:endCxn id="58" idx="3"/>
          </p:cNvCxnSpPr>
          <p:nvPr/>
        </p:nvCxnSpPr>
        <p:spPr>
          <a:xfrm flipV="1">
            <a:off x="4163936" y="1491992"/>
            <a:ext cx="222915" cy="2276006"/>
          </a:xfrm>
          <a:prstGeom prst="bentConnector3">
            <a:avLst>
              <a:gd name="adj1" fmla="val 301993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/>
              <p:nvPr/>
            </p:nvSpPr>
            <p:spPr>
              <a:xfrm>
                <a:off x="6954335" y="973604"/>
                <a:ext cx="4399547" cy="1847634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Predictive EOL Distribution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endChr m:val="|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:</m:t>
                              </m:r>
                              <m:r>
                                <a:rPr lang="en-US" sz="160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 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</m:nary>
                      <m:d>
                        <m:d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𝐸𝑂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𝔼</m:t>
                      </m:r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[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e>
                        <m:sub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0:</m:t>
                              </m:r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sub>
                      </m:sSub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  <m:sub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0:</m:t>
                          </m:r>
                          <m: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1600" b="0" i="1" dirty="0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]</m:t>
                      </m:r>
                      <m:r>
                        <a:rPr lang="en-US" sz="1600" i="1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≈</m:t>
                      </m:r>
                      <m:nary>
                        <m:naryPr>
                          <m:chr m:val="∑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  <m:e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𝜔</m:t>
                              </m:r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nary>
                      <m:r>
                        <a:rPr lang="en-US" sz="1600" dirty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𝔼</m:t>
                      </m:r>
                      <m:d>
                        <m:dPr>
                          <m:begChr m:val="["/>
                          <m:endChr m:val="]"/>
                          <m:ctrlPr>
                            <a:rPr lang="en-US" sz="1600" i="1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en-US" sz="1600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r>
                            <a:rPr lang="en-US" sz="1600" dirty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|</m:t>
                          </m:r>
                          <m:sSubSup>
                            <m:sSubSupPr>
                              <m:ctrlP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SupPr>
                            <m:e>
                              <m:acc>
                                <m:accPr>
                                  <m:chr m:val="̃"/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acc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</m:acc>
                            </m:e>
                            <m:sub>
                              <m:r>
                                <a:rPr lang="en-US" sz="1600" i="1" dirty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  <m:sup>
                              <m:d>
                                <m:dPr>
                                  <m:ctrlP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sz="1600" i="1" dirty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e>
                              </m:d>
                            </m:sup>
                          </m:sSubSup>
                        </m:e>
                      </m:d>
                    </m:oMath>
                  </m:oMathPara>
                </a14:m>
                <a:endParaRPr lang="en-US" sz="1600" dirty="0">
                  <a:solidFill>
                    <a:schemeClr val="tx1"/>
                  </a:solidFill>
                </a:endParaRPr>
              </a:p>
            </p:txBody>
          </p:sp>
        </mc:Choice>
        <mc:Fallback xmlns="">
          <p:sp>
            <p:nvSpPr>
              <p:cNvPr id="116" name="Rectángulo 719">
                <a:extLst>
                  <a:ext uri="{FF2B5EF4-FFF2-40B4-BE49-F238E27FC236}">
                    <a16:creationId xmlns:a16="http://schemas.microsoft.com/office/drawing/2014/main" id="{7AA68EBB-0C2B-C112-A062-1E295F55F94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4335" y="973604"/>
                <a:ext cx="4399547" cy="1847634"/>
              </a:xfrm>
              <a:prstGeom prst="rect">
                <a:avLst/>
              </a:prstGeom>
              <a:blipFill>
                <a:blip r:embed="rId8"/>
                <a:stretch>
                  <a:fillRect t="-23810" b="-612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/>
              <p:nvPr/>
            </p:nvSpPr>
            <p:spPr>
              <a:xfrm>
                <a:off x="4163936" y="3816992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26" name="TextBox 125">
                <a:extLst>
                  <a:ext uri="{FF2B5EF4-FFF2-40B4-BE49-F238E27FC236}">
                    <a16:creationId xmlns:a16="http://schemas.microsoft.com/office/drawing/2014/main" id="{80D78E3F-E0D5-19D1-4772-A8B4BD2A22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3936" y="3816992"/>
                <a:ext cx="879514" cy="43746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/>
              <p:nvPr/>
            </p:nvSpPr>
            <p:spPr>
              <a:xfrm>
                <a:off x="4413648" y="1033230"/>
                <a:ext cx="879514" cy="43746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20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Sup>
                                <m:sSubSupPr>
                                  <m:ctrlPr>
                                    <a:rPr lang="en-US" sz="1200" i="1" dirty="0">
                                      <a:latin typeface="Cambria Math" panose="02040503050406030204" pitchFamily="18" charset="0"/>
                                    </a:rPr>
                                  </m:ctrlPr>
                                </m:sSubSupPr>
                                <m:e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𝜙</m:t>
                                  </m:r>
                                </m:e>
                                <m:sub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sz="1200" b="0" i="1" dirty="0" smtClean="0">
                                      <a:latin typeface="Cambria Math" panose="02040503050406030204" pitchFamily="18" charset="0"/>
                                    </a:rPr>
                                    <m:t>−1</m:t>
                                  </m:r>
                                </m:sub>
                                <m:sup>
                                  <m:d>
                                    <m:dPr>
                                      <m:ctrlP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US" sz="1200" i="1" dirty="0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sup>
                              </m:sSubSup>
                            </m:e>
                          </m:d>
                        </m:e>
                        <m:sub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20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200" dirty="0"/>
              </a:p>
            </p:txBody>
          </p:sp>
        </mc:Choice>
        <mc:Fallback xmlns="">
          <p:sp>
            <p:nvSpPr>
              <p:cNvPr id="132" name="TextBox 131">
                <a:extLst>
                  <a:ext uri="{FF2B5EF4-FFF2-40B4-BE49-F238E27FC236}">
                    <a16:creationId xmlns:a16="http://schemas.microsoft.com/office/drawing/2014/main" id="{A5CACAE7-5DD6-D446-EDE9-63D161977D6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13648" y="1033230"/>
                <a:ext cx="879514" cy="43746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E5AE225-5DFA-E452-E0E7-9E22357C4178}"/>
                  </a:ext>
                </a:extLst>
              </p:cNvPr>
              <p:cNvSpPr/>
              <p:nvPr/>
            </p:nvSpPr>
            <p:spPr>
              <a:xfrm>
                <a:off x="2854245" y="5502908"/>
                <a:ext cx="6483510" cy="903805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44450" cap="rnd">
                <a:solidFill>
                  <a:schemeClr val="tx1"/>
                </a:solidFill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14:m>
                  <m:oMath xmlns:m="http://schemas.openxmlformats.org/officeDocument/2006/math">
                    <m:r>
                      <a:rPr lang="en-US" sz="140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sz="1400" dirty="0">
                    <a:solidFill>
                      <a:prstClr val="black"/>
                    </a:solidFill>
                  </a:rPr>
                  <a:t>: Number of particles</a:t>
                </a:r>
              </a:p>
              <a:p>
                <a:pPr algn="ctr"/>
                <a14:m>
                  <m:oMath xmlns:m="http://schemas.openxmlformats.org/officeDocument/2006/math">
                    <m:sSubSup>
                      <m:sSubSupPr>
                        <m:ctrlP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1400" i="1" dirty="0">
                                <a:solidFill>
                                  <a:prstClr val="black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Sup>
                              <m:sSubSupPr>
                                <m:ctrlPr>
                                  <a:rPr lang="en-US" sz="1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sz="1400" b="0" i="1" dirty="0" smtClean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𝜙</m:t>
                                </m:r>
                              </m:e>
                              <m:sub>
                                <m:r>
                                  <a:rPr lang="en-US" sz="1400" i="1" dirty="0">
                                    <a:solidFill>
                                      <a:prstClr val="black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sub>
                              <m:sup>
                                <m:d>
                                  <m:dPr>
                                    <m:ctrlPr>
                                      <a:rPr lang="en-US" sz="1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1400" i="1" dirty="0">
                                        <a:solidFill>
                                          <a:prstClr val="black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e>
                                </m:d>
                              </m:sup>
                            </m:sSubSup>
                          </m:e>
                        </m:d>
                      </m:e>
                      <m:sub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bSup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, </m:t>
                    </m:r>
                    <m:r>
                      <a:rPr lang="el-GR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𝛴</m:t>
                    </m:r>
                    <m:d>
                      <m:dPr>
                        <m:ctrlP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 smtClean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</m:e>
                    </m:d>
                  </m:oMath>
                </a14:m>
                <a:r>
                  <a:rPr lang="en-US" sz="14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and</a:t>
                </a:r>
                <a:r>
                  <a:rPr lang="en-US" sz="1200" i="1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1400" i="1" dirty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𝜅</m:t>
                    </m:r>
                    <m:d>
                      <m:dPr>
                        <m:ctrlP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1400" i="1" dirty="0">
                            <a:solidFill>
                              <a:prstClr val="black"/>
                            </a:solidFill>
                            <a:latin typeface="Cambria Math" panose="02040503050406030204" pitchFamily="18" charset="0"/>
                          </a:rPr>
                          <m:t>∙</m:t>
                        </m:r>
                      </m:e>
                    </m:d>
                    <m:r>
                      <a:rPr lang="en-US" sz="1400" b="0" i="1" dirty="0" smtClean="0">
                        <a:solidFill>
                          <a:prstClr val="black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1600" dirty="0">
                    <a:solidFill>
                      <a:prstClr val="black"/>
                    </a:solidFill>
                    <a:latin typeface="Cambria Math" panose="02040503050406030204" pitchFamily="18" charset="0"/>
                  </a:rPr>
                  <a:t>are learned during training using offline data</a:t>
                </a:r>
              </a:p>
            </p:txBody>
          </p:sp>
        </mc:Choice>
        <mc:Fallback xmlns="">
          <p:sp>
            <p:nvSpPr>
              <p:cNvPr id="134" name="Rectangle 133">
                <a:extLst>
                  <a:ext uri="{FF2B5EF4-FFF2-40B4-BE49-F238E27FC236}">
                    <a16:creationId xmlns:a16="http://schemas.microsoft.com/office/drawing/2014/main" id="{6E5AE225-5DFA-E452-E0E7-9E22357C4178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54245" y="5502908"/>
                <a:ext cx="6483510" cy="903805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44450" cap="rnd">
                <a:solidFill>
                  <a:schemeClr val="tx1"/>
                </a:solidFill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9" name="Connector: Elbow 15">
            <a:extLst>
              <a:ext uri="{FF2B5EF4-FFF2-40B4-BE49-F238E27FC236}">
                <a16:creationId xmlns:a16="http://schemas.microsoft.com/office/drawing/2014/main" id="{0A5C063B-8681-BF18-0F33-9B2BAE5EB245}"/>
              </a:ext>
            </a:extLst>
          </p:cNvPr>
          <p:cNvCxnSpPr>
            <a:cxnSpLocks/>
            <a:stCxn id="75" idx="3"/>
            <a:endCxn id="116" idx="1"/>
          </p:cNvCxnSpPr>
          <p:nvPr/>
        </p:nvCxnSpPr>
        <p:spPr>
          <a:xfrm flipV="1">
            <a:off x="4622164" y="1897421"/>
            <a:ext cx="2332171" cy="595711"/>
          </a:xfrm>
          <a:prstGeom prst="bentConnector3">
            <a:avLst>
              <a:gd name="adj1" fmla="val 5198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8EAB311-0998-4D60-9444-682B38FA7C9C}"/>
              </a:ext>
            </a:extLst>
          </p:cNvPr>
          <p:cNvCxnSpPr>
            <a:cxnSpLocks/>
          </p:cNvCxnSpPr>
          <p:nvPr/>
        </p:nvCxnSpPr>
        <p:spPr>
          <a:xfrm flipV="1">
            <a:off x="283997" y="1500542"/>
            <a:ext cx="1464022" cy="9850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582">
            <a:extLst>
              <a:ext uri="{FF2B5EF4-FFF2-40B4-BE49-F238E27FC236}">
                <a16:creationId xmlns:a16="http://schemas.microsoft.com/office/drawing/2014/main" id="{6E810BC3-66B3-F66F-581B-85419F0BD5C5}"/>
              </a:ext>
            </a:extLst>
          </p:cNvPr>
          <p:cNvCxnSpPr>
            <a:cxnSpLocks/>
            <a:endCxn id="75" idx="1"/>
          </p:cNvCxnSpPr>
          <p:nvPr/>
        </p:nvCxnSpPr>
        <p:spPr>
          <a:xfrm>
            <a:off x="280916" y="2485570"/>
            <a:ext cx="1256324" cy="75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582">
            <a:extLst>
              <a:ext uri="{FF2B5EF4-FFF2-40B4-BE49-F238E27FC236}">
                <a16:creationId xmlns:a16="http://schemas.microsoft.com/office/drawing/2014/main" id="{E5314172-9F28-1B83-E383-5B19893B42E4}"/>
              </a:ext>
            </a:extLst>
          </p:cNvPr>
          <p:cNvCxnSpPr>
            <a:cxnSpLocks/>
            <a:stCxn id="58" idx="2"/>
            <a:endCxn id="75" idx="0"/>
          </p:cNvCxnSpPr>
          <p:nvPr/>
        </p:nvCxnSpPr>
        <p:spPr>
          <a:xfrm>
            <a:off x="3070603" y="1845086"/>
            <a:ext cx="9099" cy="2949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582">
            <a:extLst>
              <a:ext uri="{FF2B5EF4-FFF2-40B4-BE49-F238E27FC236}">
                <a16:creationId xmlns:a16="http://schemas.microsoft.com/office/drawing/2014/main" id="{FC160D0E-65B7-B65C-4F61-595F464E491F}"/>
              </a:ext>
            </a:extLst>
          </p:cNvPr>
          <p:cNvCxnSpPr>
            <a:cxnSpLocks/>
            <a:stCxn id="116" idx="2"/>
            <a:endCxn id="18" idx="0"/>
          </p:cNvCxnSpPr>
          <p:nvPr/>
        </p:nvCxnSpPr>
        <p:spPr>
          <a:xfrm flipH="1">
            <a:off x="9154107" y="2821238"/>
            <a:ext cx="2" cy="5172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160 Rectángulo">
            <a:extLst>
              <a:ext uri="{FF2B5EF4-FFF2-40B4-BE49-F238E27FC236}">
                <a16:creationId xmlns:a16="http://schemas.microsoft.com/office/drawing/2014/main" id="{6C494B3A-5DDA-2012-725E-32AF2E6B8E45}"/>
              </a:ext>
            </a:extLst>
          </p:cNvPr>
          <p:cNvSpPr/>
          <p:nvPr/>
        </p:nvSpPr>
        <p:spPr>
          <a:xfrm>
            <a:off x="8329683" y="277230"/>
            <a:ext cx="164884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/>
              <a:t>RUL Prediction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/>
              <p:nvPr/>
            </p:nvSpPr>
            <p:spPr>
              <a:xfrm>
                <a:off x="5300527" y="1451444"/>
                <a:ext cx="1240603" cy="54970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d>
                            <m:dPr>
                              <m:begChr m:val="{"/>
                              <m:endChr m:val="}"/>
                              <m:ctrlPr>
                                <a:rPr lang="en-US" sz="1050" b="0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d>
                                <m:dPr>
                                  <m:ctrlPr>
                                    <a:rPr lang="en-US" sz="1050" b="0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𝜔</m:t>
                                      </m:r>
                                    </m:e>
                                    <m:sub>
                                      <m:r>
                                        <m:rPr>
                                          <m:sty m:val="p"/>
                                        </m:rPr>
                                        <a:rPr lang="en-US" sz="1050" dirty="0">
                                          <a:latin typeface="Cambria Math" panose="02040503050406030204" pitchFamily="18" charset="0"/>
                                        </a:rPr>
                                        <m:t>n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  <m:r>
                                    <a:rPr lang="en-US" sz="1050" i="1" dirty="0">
                                      <a:latin typeface="Cambria Math" panose="02040503050406030204" pitchFamily="18" charset="0"/>
                                    </a:rPr>
                                    <m:t>,</m:t>
                                  </m:r>
                                  <m:sSubSup>
                                    <m:sSubSupPr>
                                      <m:ctrlP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acc>
                                        <m:accPr>
                                          <m:chr m:val="̃"/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acc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𝜙</m:t>
                                          </m:r>
                                        </m:e>
                                      </m:acc>
                                    </m:e>
                                    <m:sub>
                                      <m:r>
                                        <a:rPr lang="en-US" sz="1050" i="1" dirty="0"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sub>
                                    <m:sup>
                                      <m:d>
                                        <m:dPr>
                                          <m:ctrlP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US" sz="1050" i="1" dirty="0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sup>
                                  </m:sSubSup>
                                </m:e>
                              </m:d>
                            </m:e>
                          </m:d>
                        </m:e>
                        <m:sub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US" sz="1050" b="0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𝑁</m:t>
                          </m:r>
                        </m:sup>
                      </m:sSubSup>
                    </m:oMath>
                  </m:oMathPara>
                </a14:m>
                <a:endParaRPr lang="en-US" sz="1050" b="0" dirty="0">
                  <a:solidFill>
                    <a:schemeClr val="tx1"/>
                  </a:solidFill>
                </a:endParaRPr>
              </a:p>
              <a:p>
                <a:endParaRPr lang="en-US" sz="1050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7E2359FC-0EBE-DA01-C687-1F91C3A746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00527" y="1451444"/>
                <a:ext cx="1240603" cy="549702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8625957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30497</TotalTime>
  <Words>224</Words>
  <Application>Microsoft Macintosh PowerPoint</Application>
  <PresentationFormat>Widescreen</PresentationFormat>
  <Paragraphs>70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Cambria Math</vt:lpstr>
      <vt:lpstr>Tema de Office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Diaz Gonzalez, Abel</dc:creator>
  <cp:lastModifiedBy>Diaz Gonzalez, Abel</cp:lastModifiedBy>
  <cp:revision>71</cp:revision>
  <dcterms:created xsi:type="dcterms:W3CDTF">2023-04-24T07:22:51Z</dcterms:created>
  <dcterms:modified xsi:type="dcterms:W3CDTF">2026-03-14T16:52:30Z</dcterms:modified>
</cp:coreProperties>
</file>